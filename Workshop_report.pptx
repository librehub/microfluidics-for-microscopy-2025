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60" r:id="rId4"/>
    <p:sldId id="261" r:id="rId5"/>
    <p:sldId id="259" r:id="rId6"/>
    <p:sldId id="262" r:id="rId7"/>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4" autoAdjust="0"/>
    <p:restoredTop sz="94694"/>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11EEAC-59E5-4E16-9A9A-EE17C31A514D}" type="datetimeFigureOut">
              <a:rPr lang="es-CL" smtClean="0"/>
              <a:t>28-11-2025</a:t>
            </a:fld>
            <a:endParaRPr lang="es-C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01E9557-7A0B-40BA-B03B-E0832BF25E5B}" type="slidenum">
              <a:rPr lang="es-CL" smtClean="0"/>
              <a:t>‹#›</a:t>
            </a:fld>
            <a:endParaRPr lang="es-CL"/>
          </a:p>
        </p:txBody>
      </p:sp>
    </p:spTree>
    <p:extLst>
      <p:ext uri="{BB962C8B-B14F-4D97-AF65-F5344CB8AC3E}">
        <p14:creationId xmlns:p14="http://schemas.microsoft.com/office/powerpoint/2010/main" val="25137540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101E9557-7A0B-40BA-B03B-E0832BF25E5B}" type="slidenum">
              <a:rPr lang="es-CL" smtClean="0"/>
              <a:t>3</a:t>
            </a:fld>
            <a:endParaRPr lang="es-CL"/>
          </a:p>
        </p:txBody>
      </p:sp>
    </p:spTree>
    <p:extLst>
      <p:ext uri="{BB962C8B-B14F-4D97-AF65-F5344CB8AC3E}">
        <p14:creationId xmlns:p14="http://schemas.microsoft.com/office/powerpoint/2010/main" val="2078066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CL" dirty="0"/>
          </a:p>
        </p:txBody>
      </p:sp>
      <p:sp>
        <p:nvSpPr>
          <p:cNvPr id="4" name="Slide Number Placeholder 3"/>
          <p:cNvSpPr>
            <a:spLocks noGrp="1"/>
          </p:cNvSpPr>
          <p:nvPr>
            <p:ph type="sldNum" sz="quarter" idx="5"/>
          </p:nvPr>
        </p:nvSpPr>
        <p:spPr/>
        <p:txBody>
          <a:bodyPr/>
          <a:lstStyle/>
          <a:p>
            <a:fld id="{101E9557-7A0B-40BA-B03B-E0832BF25E5B}" type="slidenum">
              <a:rPr lang="es-CL" smtClean="0"/>
              <a:t>4</a:t>
            </a:fld>
            <a:endParaRPr lang="es-CL"/>
          </a:p>
        </p:txBody>
      </p:sp>
    </p:spTree>
    <p:extLst>
      <p:ext uri="{BB962C8B-B14F-4D97-AF65-F5344CB8AC3E}">
        <p14:creationId xmlns:p14="http://schemas.microsoft.com/office/powerpoint/2010/main" val="310064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73BCA-0CC1-9041-261D-A1300E8CEDD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s-CL"/>
          </a:p>
        </p:txBody>
      </p:sp>
      <p:sp>
        <p:nvSpPr>
          <p:cNvPr id="3" name="Subtitle 2">
            <a:extLst>
              <a:ext uri="{FF2B5EF4-FFF2-40B4-BE49-F238E27FC236}">
                <a16:creationId xmlns:a16="http://schemas.microsoft.com/office/drawing/2014/main" id="{A672832C-401B-142B-CE7C-320FD9B52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s-CL"/>
          </a:p>
        </p:txBody>
      </p:sp>
      <p:sp>
        <p:nvSpPr>
          <p:cNvPr id="4" name="Date Placeholder 3">
            <a:extLst>
              <a:ext uri="{FF2B5EF4-FFF2-40B4-BE49-F238E27FC236}">
                <a16:creationId xmlns:a16="http://schemas.microsoft.com/office/drawing/2014/main" id="{CBDB78B7-EE94-D691-B8C6-9F09FD2D3280}"/>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B42F8495-B479-6CA5-E7AB-FB203F4B2F49}"/>
              </a:ext>
            </a:extLst>
          </p:cNvPr>
          <p:cNvSpPr>
            <a:spLocks noGrp="1"/>
          </p:cNvSpPr>
          <p:nvPr>
            <p:ph type="ftr" sz="quarter" idx="11"/>
          </p:nvPr>
        </p:nvSpPr>
        <p:spPr/>
        <p:txBody>
          <a:bodyPr/>
          <a:lstStyle/>
          <a:p>
            <a:endParaRPr lang="es-CL"/>
          </a:p>
        </p:txBody>
      </p:sp>
      <p:sp>
        <p:nvSpPr>
          <p:cNvPr id="6" name="Slide Number Placeholder 5">
            <a:extLst>
              <a:ext uri="{FF2B5EF4-FFF2-40B4-BE49-F238E27FC236}">
                <a16:creationId xmlns:a16="http://schemas.microsoft.com/office/drawing/2014/main" id="{C036A71E-D0A1-B360-02DC-923363C49082}"/>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4150212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2B4BB-EBA7-A877-139A-04358827336B}"/>
              </a:ext>
            </a:extLst>
          </p:cNvPr>
          <p:cNvSpPr>
            <a:spLocks noGrp="1"/>
          </p:cNvSpPr>
          <p:nvPr>
            <p:ph type="title"/>
          </p:nvPr>
        </p:nvSpPr>
        <p:spPr/>
        <p:txBody>
          <a:bodyPr/>
          <a:lstStyle/>
          <a:p>
            <a:r>
              <a:rPr lang="en-US"/>
              <a:t>Click to edit Master title style</a:t>
            </a:r>
            <a:endParaRPr lang="es-CL"/>
          </a:p>
        </p:txBody>
      </p:sp>
      <p:sp>
        <p:nvSpPr>
          <p:cNvPr id="3" name="Content Placeholder 2">
            <a:extLst>
              <a:ext uri="{FF2B5EF4-FFF2-40B4-BE49-F238E27FC236}">
                <a16:creationId xmlns:a16="http://schemas.microsoft.com/office/drawing/2014/main" id="{C975C151-CB5B-D652-CEC8-55D44D87BDC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Date Placeholder 3">
            <a:extLst>
              <a:ext uri="{FF2B5EF4-FFF2-40B4-BE49-F238E27FC236}">
                <a16:creationId xmlns:a16="http://schemas.microsoft.com/office/drawing/2014/main" id="{2AF2C7C2-4575-BF0F-2659-F60384D16215}"/>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31DEF721-3EB4-2DD5-25E5-CABB5911E1BB}"/>
              </a:ext>
            </a:extLst>
          </p:cNvPr>
          <p:cNvSpPr>
            <a:spLocks noGrp="1"/>
          </p:cNvSpPr>
          <p:nvPr>
            <p:ph type="ftr" sz="quarter" idx="11"/>
          </p:nvPr>
        </p:nvSpPr>
        <p:spPr/>
        <p:txBody>
          <a:bodyPr/>
          <a:lstStyle/>
          <a:p>
            <a:endParaRPr lang="es-CL"/>
          </a:p>
        </p:txBody>
      </p:sp>
      <p:sp>
        <p:nvSpPr>
          <p:cNvPr id="6" name="Slide Number Placeholder 5">
            <a:extLst>
              <a:ext uri="{FF2B5EF4-FFF2-40B4-BE49-F238E27FC236}">
                <a16:creationId xmlns:a16="http://schemas.microsoft.com/office/drawing/2014/main" id="{80743F39-6CE3-C9BB-E663-CC8EAD915939}"/>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3876260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496E-68D1-1B0E-FDCA-F2F0700910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s-CL"/>
          </a:p>
        </p:txBody>
      </p:sp>
      <p:sp>
        <p:nvSpPr>
          <p:cNvPr id="3" name="Text Placeholder 2">
            <a:extLst>
              <a:ext uri="{FF2B5EF4-FFF2-40B4-BE49-F238E27FC236}">
                <a16:creationId xmlns:a16="http://schemas.microsoft.com/office/drawing/2014/main" id="{BF609ED1-05AF-6EAD-C6D0-9AFE471345A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FE1CC55-D5C4-DBB4-FDD5-61FD8C03502C}"/>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FE7FB761-002B-90F9-EB0F-49FBD164082B}"/>
              </a:ext>
            </a:extLst>
          </p:cNvPr>
          <p:cNvSpPr>
            <a:spLocks noGrp="1"/>
          </p:cNvSpPr>
          <p:nvPr>
            <p:ph type="ftr" sz="quarter" idx="11"/>
          </p:nvPr>
        </p:nvSpPr>
        <p:spPr/>
        <p:txBody>
          <a:bodyPr/>
          <a:lstStyle/>
          <a:p>
            <a:endParaRPr lang="es-CL"/>
          </a:p>
        </p:txBody>
      </p:sp>
      <p:sp>
        <p:nvSpPr>
          <p:cNvPr id="6" name="Slide Number Placeholder 5">
            <a:extLst>
              <a:ext uri="{FF2B5EF4-FFF2-40B4-BE49-F238E27FC236}">
                <a16:creationId xmlns:a16="http://schemas.microsoft.com/office/drawing/2014/main" id="{50BED0C4-512A-12F3-F213-16F90723E7C2}"/>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1365802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C8077-092A-63EC-0194-BEDD8F468679}"/>
              </a:ext>
            </a:extLst>
          </p:cNvPr>
          <p:cNvSpPr>
            <a:spLocks noGrp="1"/>
          </p:cNvSpPr>
          <p:nvPr>
            <p:ph type="title"/>
          </p:nvPr>
        </p:nvSpPr>
        <p:spPr/>
        <p:txBody>
          <a:bodyPr/>
          <a:lstStyle/>
          <a:p>
            <a:r>
              <a:rPr lang="en-US"/>
              <a:t>Click to edit Master title style</a:t>
            </a:r>
            <a:endParaRPr lang="es-CL"/>
          </a:p>
        </p:txBody>
      </p:sp>
      <p:sp>
        <p:nvSpPr>
          <p:cNvPr id="3" name="Content Placeholder 2">
            <a:extLst>
              <a:ext uri="{FF2B5EF4-FFF2-40B4-BE49-F238E27FC236}">
                <a16:creationId xmlns:a16="http://schemas.microsoft.com/office/drawing/2014/main" id="{F502EEE4-400D-72D7-C73E-87BD3CDF41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Content Placeholder 3">
            <a:extLst>
              <a:ext uri="{FF2B5EF4-FFF2-40B4-BE49-F238E27FC236}">
                <a16:creationId xmlns:a16="http://schemas.microsoft.com/office/drawing/2014/main" id="{1CDF240F-CF0E-AE71-5DB9-55A24B88FAA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5" name="Date Placeholder 4">
            <a:extLst>
              <a:ext uri="{FF2B5EF4-FFF2-40B4-BE49-F238E27FC236}">
                <a16:creationId xmlns:a16="http://schemas.microsoft.com/office/drawing/2014/main" id="{A4EC4C44-2647-4ACA-B7AE-23B360F791C3}"/>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6" name="Footer Placeholder 5">
            <a:extLst>
              <a:ext uri="{FF2B5EF4-FFF2-40B4-BE49-F238E27FC236}">
                <a16:creationId xmlns:a16="http://schemas.microsoft.com/office/drawing/2014/main" id="{7081442C-D6E2-D518-E613-2CEEA3CCDDBB}"/>
              </a:ext>
            </a:extLst>
          </p:cNvPr>
          <p:cNvSpPr>
            <a:spLocks noGrp="1"/>
          </p:cNvSpPr>
          <p:nvPr>
            <p:ph type="ftr" sz="quarter" idx="11"/>
          </p:nvPr>
        </p:nvSpPr>
        <p:spPr/>
        <p:txBody>
          <a:bodyPr/>
          <a:lstStyle/>
          <a:p>
            <a:endParaRPr lang="es-CL"/>
          </a:p>
        </p:txBody>
      </p:sp>
      <p:sp>
        <p:nvSpPr>
          <p:cNvPr id="7" name="Slide Number Placeholder 6">
            <a:extLst>
              <a:ext uri="{FF2B5EF4-FFF2-40B4-BE49-F238E27FC236}">
                <a16:creationId xmlns:a16="http://schemas.microsoft.com/office/drawing/2014/main" id="{D784E5BB-987C-2A30-5628-EFA1F257CF8C}"/>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25474794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87981-D61E-0F2E-27C9-0AFD61AFF65E}"/>
              </a:ext>
            </a:extLst>
          </p:cNvPr>
          <p:cNvSpPr>
            <a:spLocks noGrp="1"/>
          </p:cNvSpPr>
          <p:nvPr>
            <p:ph type="title"/>
          </p:nvPr>
        </p:nvSpPr>
        <p:spPr>
          <a:xfrm>
            <a:off x="839788" y="365125"/>
            <a:ext cx="10515600" cy="1325563"/>
          </a:xfrm>
        </p:spPr>
        <p:txBody>
          <a:bodyPr/>
          <a:lstStyle/>
          <a:p>
            <a:r>
              <a:rPr lang="en-US"/>
              <a:t>Click to edit Master title style</a:t>
            </a:r>
            <a:endParaRPr lang="es-CL"/>
          </a:p>
        </p:txBody>
      </p:sp>
      <p:sp>
        <p:nvSpPr>
          <p:cNvPr id="3" name="Text Placeholder 2">
            <a:extLst>
              <a:ext uri="{FF2B5EF4-FFF2-40B4-BE49-F238E27FC236}">
                <a16:creationId xmlns:a16="http://schemas.microsoft.com/office/drawing/2014/main" id="{C455B2EE-7696-7120-7DB7-AD928CB1DF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26FE12F-D87C-93AB-0820-6E53015CC1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5" name="Text Placeholder 4">
            <a:extLst>
              <a:ext uri="{FF2B5EF4-FFF2-40B4-BE49-F238E27FC236}">
                <a16:creationId xmlns:a16="http://schemas.microsoft.com/office/drawing/2014/main" id="{7B5E2728-9264-30D8-E867-C5EF1A1A20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849A9C-3EA2-F163-9A8D-B7B4B529EF1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7" name="Date Placeholder 6">
            <a:extLst>
              <a:ext uri="{FF2B5EF4-FFF2-40B4-BE49-F238E27FC236}">
                <a16:creationId xmlns:a16="http://schemas.microsoft.com/office/drawing/2014/main" id="{7FC0DE15-1767-37F3-8C30-CE2A59E7E438}"/>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8" name="Footer Placeholder 7">
            <a:extLst>
              <a:ext uri="{FF2B5EF4-FFF2-40B4-BE49-F238E27FC236}">
                <a16:creationId xmlns:a16="http://schemas.microsoft.com/office/drawing/2014/main" id="{31FEAF86-13B8-78ED-CC79-3F6914BE1B6C}"/>
              </a:ext>
            </a:extLst>
          </p:cNvPr>
          <p:cNvSpPr>
            <a:spLocks noGrp="1"/>
          </p:cNvSpPr>
          <p:nvPr>
            <p:ph type="ftr" sz="quarter" idx="11"/>
          </p:nvPr>
        </p:nvSpPr>
        <p:spPr/>
        <p:txBody>
          <a:bodyPr/>
          <a:lstStyle/>
          <a:p>
            <a:endParaRPr lang="es-CL"/>
          </a:p>
        </p:txBody>
      </p:sp>
      <p:sp>
        <p:nvSpPr>
          <p:cNvPr id="9" name="Slide Number Placeholder 8">
            <a:extLst>
              <a:ext uri="{FF2B5EF4-FFF2-40B4-BE49-F238E27FC236}">
                <a16:creationId xmlns:a16="http://schemas.microsoft.com/office/drawing/2014/main" id="{E9D71C7A-D3AA-1778-BBF1-4407CEAF8995}"/>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2184674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CAAD6-0573-B796-59FD-7575DE27A19A}"/>
              </a:ext>
            </a:extLst>
          </p:cNvPr>
          <p:cNvSpPr>
            <a:spLocks noGrp="1"/>
          </p:cNvSpPr>
          <p:nvPr>
            <p:ph type="title"/>
          </p:nvPr>
        </p:nvSpPr>
        <p:spPr/>
        <p:txBody>
          <a:bodyPr/>
          <a:lstStyle/>
          <a:p>
            <a:r>
              <a:rPr lang="en-US"/>
              <a:t>Click to edit Master title style</a:t>
            </a:r>
            <a:endParaRPr lang="es-CL"/>
          </a:p>
        </p:txBody>
      </p:sp>
      <p:sp>
        <p:nvSpPr>
          <p:cNvPr id="3" name="Date Placeholder 2">
            <a:extLst>
              <a:ext uri="{FF2B5EF4-FFF2-40B4-BE49-F238E27FC236}">
                <a16:creationId xmlns:a16="http://schemas.microsoft.com/office/drawing/2014/main" id="{9986CE36-208C-D732-7735-14E047659FD0}"/>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4" name="Footer Placeholder 3">
            <a:extLst>
              <a:ext uri="{FF2B5EF4-FFF2-40B4-BE49-F238E27FC236}">
                <a16:creationId xmlns:a16="http://schemas.microsoft.com/office/drawing/2014/main" id="{DFAE6AA9-1D9B-F850-74DD-28BE17F88FFA}"/>
              </a:ext>
            </a:extLst>
          </p:cNvPr>
          <p:cNvSpPr>
            <a:spLocks noGrp="1"/>
          </p:cNvSpPr>
          <p:nvPr>
            <p:ph type="ftr" sz="quarter" idx="11"/>
          </p:nvPr>
        </p:nvSpPr>
        <p:spPr/>
        <p:txBody>
          <a:bodyPr/>
          <a:lstStyle/>
          <a:p>
            <a:endParaRPr lang="es-CL"/>
          </a:p>
        </p:txBody>
      </p:sp>
      <p:sp>
        <p:nvSpPr>
          <p:cNvPr id="5" name="Slide Number Placeholder 4">
            <a:extLst>
              <a:ext uri="{FF2B5EF4-FFF2-40B4-BE49-F238E27FC236}">
                <a16:creationId xmlns:a16="http://schemas.microsoft.com/office/drawing/2014/main" id="{02912BF7-C44B-277D-F8E2-4862D0AFE8B3}"/>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35160533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1EA15B1-1D11-479F-4924-630C6319F839}"/>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3" name="Footer Placeholder 2">
            <a:extLst>
              <a:ext uri="{FF2B5EF4-FFF2-40B4-BE49-F238E27FC236}">
                <a16:creationId xmlns:a16="http://schemas.microsoft.com/office/drawing/2014/main" id="{143A61E9-735A-27D6-C6B9-E287626E3709}"/>
              </a:ext>
            </a:extLst>
          </p:cNvPr>
          <p:cNvSpPr>
            <a:spLocks noGrp="1"/>
          </p:cNvSpPr>
          <p:nvPr>
            <p:ph type="ftr" sz="quarter" idx="11"/>
          </p:nvPr>
        </p:nvSpPr>
        <p:spPr/>
        <p:txBody>
          <a:bodyPr/>
          <a:lstStyle/>
          <a:p>
            <a:endParaRPr lang="es-CL"/>
          </a:p>
        </p:txBody>
      </p:sp>
      <p:sp>
        <p:nvSpPr>
          <p:cNvPr id="4" name="Slide Number Placeholder 3">
            <a:extLst>
              <a:ext uri="{FF2B5EF4-FFF2-40B4-BE49-F238E27FC236}">
                <a16:creationId xmlns:a16="http://schemas.microsoft.com/office/drawing/2014/main" id="{CC69E0C2-EF56-B83E-D91E-D8BEF1ADEB82}"/>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533028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E29B3-5C8D-F765-4FE3-B94FCC78D7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L"/>
          </a:p>
        </p:txBody>
      </p:sp>
      <p:sp>
        <p:nvSpPr>
          <p:cNvPr id="3" name="Content Placeholder 2">
            <a:extLst>
              <a:ext uri="{FF2B5EF4-FFF2-40B4-BE49-F238E27FC236}">
                <a16:creationId xmlns:a16="http://schemas.microsoft.com/office/drawing/2014/main" id="{18B2535E-E352-66D4-420C-B6F90CB30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Text Placeholder 3">
            <a:extLst>
              <a:ext uri="{FF2B5EF4-FFF2-40B4-BE49-F238E27FC236}">
                <a16:creationId xmlns:a16="http://schemas.microsoft.com/office/drawing/2014/main" id="{FE3AC318-2E79-C9E9-E415-B8F5DEF61A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86BB89B-6862-EC3B-762D-40E0DA139AD0}"/>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6" name="Footer Placeholder 5">
            <a:extLst>
              <a:ext uri="{FF2B5EF4-FFF2-40B4-BE49-F238E27FC236}">
                <a16:creationId xmlns:a16="http://schemas.microsoft.com/office/drawing/2014/main" id="{FC678440-B222-08EE-D777-73F0DC41D939}"/>
              </a:ext>
            </a:extLst>
          </p:cNvPr>
          <p:cNvSpPr>
            <a:spLocks noGrp="1"/>
          </p:cNvSpPr>
          <p:nvPr>
            <p:ph type="ftr" sz="quarter" idx="11"/>
          </p:nvPr>
        </p:nvSpPr>
        <p:spPr/>
        <p:txBody>
          <a:bodyPr/>
          <a:lstStyle/>
          <a:p>
            <a:endParaRPr lang="es-CL"/>
          </a:p>
        </p:txBody>
      </p:sp>
      <p:sp>
        <p:nvSpPr>
          <p:cNvPr id="7" name="Slide Number Placeholder 6">
            <a:extLst>
              <a:ext uri="{FF2B5EF4-FFF2-40B4-BE49-F238E27FC236}">
                <a16:creationId xmlns:a16="http://schemas.microsoft.com/office/drawing/2014/main" id="{C33BEC12-7C5C-83AA-84D5-D078F6D92C99}"/>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34730161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2DE47-9917-D94E-6F0A-CA9DB21F88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s-CL"/>
          </a:p>
        </p:txBody>
      </p:sp>
      <p:sp>
        <p:nvSpPr>
          <p:cNvPr id="3" name="Picture Placeholder 2">
            <a:extLst>
              <a:ext uri="{FF2B5EF4-FFF2-40B4-BE49-F238E27FC236}">
                <a16:creationId xmlns:a16="http://schemas.microsoft.com/office/drawing/2014/main" id="{5EEDE168-3C8D-02DA-3475-2325AA108F8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Text Placeholder 3">
            <a:extLst>
              <a:ext uri="{FF2B5EF4-FFF2-40B4-BE49-F238E27FC236}">
                <a16:creationId xmlns:a16="http://schemas.microsoft.com/office/drawing/2014/main" id="{1ED08530-C452-7031-D67F-A95D6B7704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6AE6DF-779F-3E75-4CA8-19DB10BA43FB}"/>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6" name="Footer Placeholder 5">
            <a:extLst>
              <a:ext uri="{FF2B5EF4-FFF2-40B4-BE49-F238E27FC236}">
                <a16:creationId xmlns:a16="http://schemas.microsoft.com/office/drawing/2014/main" id="{5C1CA10D-38F8-0C56-5DA6-447174E46C68}"/>
              </a:ext>
            </a:extLst>
          </p:cNvPr>
          <p:cNvSpPr>
            <a:spLocks noGrp="1"/>
          </p:cNvSpPr>
          <p:nvPr>
            <p:ph type="ftr" sz="quarter" idx="11"/>
          </p:nvPr>
        </p:nvSpPr>
        <p:spPr/>
        <p:txBody>
          <a:bodyPr/>
          <a:lstStyle/>
          <a:p>
            <a:endParaRPr lang="es-CL"/>
          </a:p>
        </p:txBody>
      </p:sp>
      <p:sp>
        <p:nvSpPr>
          <p:cNvPr id="7" name="Slide Number Placeholder 6">
            <a:extLst>
              <a:ext uri="{FF2B5EF4-FFF2-40B4-BE49-F238E27FC236}">
                <a16:creationId xmlns:a16="http://schemas.microsoft.com/office/drawing/2014/main" id="{E23137AA-9BE1-3786-6BDA-AA2F57AFD054}"/>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248491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20896-58B4-C4DF-B822-2F47C3E4A57F}"/>
              </a:ext>
            </a:extLst>
          </p:cNvPr>
          <p:cNvSpPr>
            <a:spLocks noGrp="1"/>
          </p:cNvSpPr>
          <p:nvPr>
            <p:ph type="title"/>
          </p:nvPr>
        </p:nvSpPr>
        <p:spPr/>
        <p:txBody>
          <a:bodyPr/>
          <a:lstStyle/>
          <a:p>
            <a:r>
              <a:rPr lang="en-US"/>
              <a:t>Click to edit Master title style</a:t>
            </a:r>
            <a:endParaRPr lang="es-CL"/>
          </a:p>
        </p:txBody>
      </p:sp>
      <p:sp>
        <p:nvSpPr>
          <p:cNvPr id="3" name="Vertical Text Placeholder 2">
            <a:extLst>
              <a:ext uri="{FF2B5EF4-FFF2-40B4-BE49-F238E27FC236}">
                <a16:creationId xmlns:a16="http://schemas.microsoft.com/office/drawing/2014/main" id="{35A399D3-0790-EABF-7BD5-B6058516E6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Date Placeholder 3">
            <a:extLst>
              <a:ext uri="{FF2B5EF4-FFF2-40B4-BE49-F238E27FC236}">
                <a16:creationId xmlns:a16="http://schemas.microsoft.com/office/drawing/2014/main" id="{57BA46F7-4F11-45A3-5298-2A536BE94DCE}"/>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011CF187-2B3F-C102-FDF5-B49A1BCD8E40}"/>
              </a:ext>
            </a:extLst>
          </p:cNvPr>
          <p:cNvSpPr>
            <a:spLocks noGrp="1"/>
          </p:cNvSpPr>
          <p:nvPr>
            <p:ph type="ftr" sz="quarter" idx="11"/>
          </p:nvPr>
        </p:nvSpPr>
        <p:spPr/>
        <p:txBody>
          <a:bodyPr/>
          <a:lstStyle/>
          <a:p>
            <a:endParaRPr lang="es-CL"/>
          </a:p>
        </p:txBody>
      </p:sp>
      <p:sp>
        <p:nvSpPr>
          <p:cNvPr id="6" name="Slide Number Placeholder 5">
            <a:extLst>
              <a:ext uri="{FF2B5EF4-FFF2-40B4-BE49-F238E27FC236}">
                <a16:creationId xmlns:a16="http://schemas.microsoft.com/office/drawing/2014/main" id="{46E0F2CD-03FF-CA16-43A9-F974832FD4BE}"/>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153447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5F8964-1C8F-1E61-62A6-4B4C8CBD6FE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s-CL"/>
          </a:p>
        </p:txBody>
      </p:sp>
      <p:sp>
        <p:nvSpPr>
          <p:cNvPr id="3" name="Vertical Text Placeholder 2">
            <a:extLst>
              <a:ext uri="{FF2B5EF4-FFF2-40B4-BE49-F238E27FC236}">
                <a16:creationId xmlns:a16="http://schemas.microsoft.com/office/drawing/2014/main" id="{9DCA8BA8-6925-5244-971B-E0EFF70F93A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Date Placeholder 3">
            <a:extLst>
              <a:ext uri="{FF2B5EF4-FFF2-40B4-BE49-F238E27FC236}">
                <a16:creationId xmlns:a16="http://schemas.microsoft.com/office/drawing/2014/main" id="{4862CFE1-968C-4B3E-FF11-2A216F171906}"/>
              </a:ext>
            </a:extLst>
          </p:cNvPr>
          <p:cNvSpPr>
            <a:spLocks noGrp="1"/>
          </p:cNvSpPr>
          <p:nvPr>
            <p:ph type="dt" sz="half" idx="10"/>
          </p:nvPr>
        </p:nvSpPr>
        <p:spPr/>
        <p:txBody>
          <a:body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0E34C5EE-54B1-9D72-1CE1-BEA8DF59245C}"/>
              </a:ext>
            </a:extLst>
          </p:cNvPr>
          <p:cNvSpPr>
            <a:spLocks noGrp="1"/>
          </p:cNvSpPr>
          <p:nvPr>
            <p:ph type="ftr" sz="quarter" idx="11"/>
          </p:nvPr>
        </p:nvSpPr>
        <p:spPr/>
        <p:txBody>
          <a:bodyPr/>
          <a:lstStyle/>
          <a:p>
            <a:endParaRPr lang="es-CL"/>
          </a:p>
        </p:txBody>
      </p:sp>
      <p:sp>
        <p:nvSpPr>
          <p:cNvPr id="6" name="Slide Number Placeholder 5">
            <a:extLst>
              <a:ext uri="{FF2B5EF4-FFF2-40B4-BE49-F238E27FC236}">
                <a16:creationId xmlns:a16="http://schemas.microsoft.com/office/drawing/2014/main" id="{26A19FF8-3D16-C556-6613-70B1C4A0DA11}"/>
              </a:ext>
            </a:extLst>
          </p:cNvPr>
          <p:cNvSpPr>
            <a:spLocks noGrp="1"/>
          </p:cNvSpPr>
          <p:nvPr>
            <p:ph type="sldNum" sz="quarter" idx="12"/>
          </p:nvPr>
        </p:nvSpPr>
        <p:spPr/>
        <p:txBody>
          <a:bodyPr/>
          <a:lstStyle/>
          <a:p>
            <a:fld id="{04298A9B-F0E8-4813-9666-8FD7C8A5FCDB}" type="slidenum">
              <a:rPr lang="es-CL" smtClean="0"/>
              <a:t>‹#›</a:t>
            </a:fld>
            <a:endParaRPr lang="es-CL"/>
          </a:p>
        </p:txBody>
      </p:sp>
    </p:spTree>
    <p:extLst>
      <p:ext uri="{BB962C8B-B14F-4D97-AF65-F5344CB8AC3E}">
        <p14:creationId xmlns:p14="http://schemas.microsoft.com/office/powerpoint/2010/main" val="25116394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0FC57DC-3F66-E0F2-8D09-51BF418800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s-CL"/>
          </a:p>
        </p:txBody>
      </p:sp>
      <p:sp>
        <p:nvSpPr>
          <p:cNvPr id="3" name="Text Placeholder 2">
            <a:extLst>
              <a:ext uri="{FF2B5EF4-FFF2-40B4-BE49-F238E27FC236}">
                <a16:creationId xmlns:a16="http://schemas.microsoft.com/office/drawing/2014/main" id="{DFFF4C7E-3CFE-0C1B-A11B-1CDDBB9673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L"/>
          </a:p>
        </p:txBody>
      </p:sp>
      <p:sp>
        <p:nvSpPr>
          <p:cNvPr id="4" name="Date Placeholder 3">
            <a:extLst>
              <a:ext uri="{FF2B5EF4-FFF2-40B4-BE49-F238E27FC236}">
                <a16:creationId xmlns:a16="http://schemas.microsoft.com/office/drawing/2014/main" id="{3FAFAFBF-F2AF-8F51-EE6A-EAA8DE204E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C41E593-11E6-4988-854F-1B48BB9B5A9C}" type="datetimeFigureOut">
              <a:rPr lang="es-CL" smtClean="0"/>
              <a:t>28-11-2025</a:t>
            </a:fld>
            <a:endParaRPr lang="es-CL"/>
          </a:p>
        </p:txBody>
      </p:sp>
      <p:sp>
        <p:nvSpPr>
          <p:cNvPr id="5" name="Footer Placeholder 4">
            <a:extLst>
              <a:ext uri="{FF2B5EF4-FFF2-40B4-BE49-F238E27FC236}">
                <a16:creationId xmlns:a16="http://schemas.microsoft.com/office/drawing/2014/main" id="{F27A4955-773E-4CFE-51C1-878F41847A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Slide Number Placeholder 5">
            <a:extLst>
              <a:ext uri="{FF2B5EF4-FFF2-40B4-BE49-F238E27FC236}">
                <a16:creationId xmlns:a16="http://schemas.microsoft.com/office/drawing/2014/main" id="{153B0F46-44D1-6A82-5868-9B7F428826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298A9B-F0E8-4813-9666-8FD7C8A5FCDB}" type="slidenum">
              <a:rPr lang="es-CL" smtClean="0"/>
              <a:t>‹#›</a:t>
            </a:fld>
            <a:endParaRPr lang="es-CL"/>
          </a:p>
        </p:txBody>
      </p:sp>
    </p:spTree>
    <p:extLst>
      <p:ext uri="{BB962C8B-B14F-4D97-AF65-F5344CB8AC3E}">
        <p14:creationId xmlns:p14="http://schemas.microsoft.com/office/powerpoint/2010/main" val="30797122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B4FFD-7B56-5380-A235-BD719097F085}"/>
              </a:ext>
            </a:extLst>
          </p:cNvPr>
          <p:cNvSpPr>
            <a:spLocks noGrp="1"/>
          </p:cNvSpPr>
          <p:nvPr>
            <p:ph type="ctrTitle"/>
          </p:nvPr>
        </p:nvSpPr>
        <p:spPr>
          <a:xfrm>
            <a:off x="1524000" y="1436995"/>
            <a:ext cx="9144000" cy="2387600"/>
          </a:xfrm>
        </p:spPr>
        <p:txBody>
          <a:bodyPr>
            <a:normAutofit/>
          </a:bodyPr>
          <a:lstStyle/>
          <a:p>
            <a:r>
              <a:rPr lang="en-US" dirty="0"/>
              <a:t>Scaling Up Bioimaging with Microfluidic Chips Workshop</a:t>
            </a:r>
            <a:endParaRPr lang="es-CL" dirty="0"/>
          </a:p>
        </p:txBody>
      </p:sp>
      <p:sp>
        <p:nvSpPr>
          <p:cNvPr id="4" name="TextBox 3">
            <a:extLst>
              <a:ext uri="{FF2B5EF4-FFF2-40B4-BE49-F238E27FC236}">
                <a16:creationId xmlns:a16="http://schemas.microsoft.com/office/drawing/2014/main" id="{99CFD336-6604-3912-1A11-CDEEB9C37BC6}"/>
              </a:ext>
            </a:extLst>
          </p:cNvPr>
          <p:cNvSpPr txBox="1"/>
          <p:nvPr/>
        </p:nvSpPr>
        <p:spPr>
          <a:xfrm>
            <a:off x="3923071" y="4038212"/>
            <a:ext cx="6744929" cy="830997"/>
          </a:xfrm>
          <a:prstGeom prst="rect">
            <a:avLst/>
          </a:prstGeom>
          <a:noFill/>
        </p:spPr>
        <p:txBody>
          <a:bodyPr wrap="square" rtlCol="0">
            <a:spAutoFit/>
          </a:bodyPr>
          <a:lstStyle/>
          <a:p>
            <a:pPr algn="r"/>
            <a:r>
              <a:rPr lang="en-US" sz="2400" dirty="0"/>
              <a:t>Report of advances </a:t>
            </a:r>
          </a:p>
          <a:p>
            <a:pPr algn="r"/>
            <a:r>
              <a:rPr lang="en-US" sz="2400" dirty="0"/>
              <a:t>November 2025</a:t>
            </a:r>
            <a:endParaRPr lang="es-CL" sz="2400" dirty="0"/>
          </a:p>
        </p:txBody>
      </p:sp>
      <p:sp>
        <p:nvSpPr>
          <p:cNvPr id="5" name="TextBox 4">
            <a:extLst>
              <a:ext uri="{FF2B5EF4-FFF2-40B4-BE49-F238E27FC236}">
                <a16:creationId xmlns:a16="http://schemas.microsoft.com/office/drawing/2014/main" id="{D8C0889B-476B-8A9F-7631-F4550BC52252}"/>
              </a:ext>
            </a:extLst>
          </p:cNvPr>
          <p:cNvSpPr txBox="1"/>
          <p:nvPr/>
        </p:nvSpPr>
        <p:spPr>
          <a:xfrm>
            <a:off x="8426245" y="6145161"/>
            <a:ext cx="3765755" cy="369332"/>
          </a:xfrm>
          <a:prstGeom prst="rect">
            <a:avLst/>
          </a:prstGeom>
          <a:noFill/>
        </p:spPr>
        <p:txBody>
          <a:bodyPr wrap="square" rtlCol="0">
            <a:spAutoFit/>
          </a:bodyPr>
          <a:lstStyle/>
          <a:p>
            <a:pPr algn="r"/>
            <a:r>
              <a:rPr lang="es-CL" dirty="0"/>
              <a:t>Josefina Reyes A</a:t>
            </a:r>
          </a:p>
        </p:txBody>
      </p:sp>
    </p:spTree>
    <p:extLst>
      <p:ext uri="{BB962C8B-B14F-4D97-AF65-F5344CB8AC3E}">
        <p14:creationId xmlns:p14="http://schemas.microsoft.com/office/powerpoint/2010/main" val="2055263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15C55B4-A38D-D117-40EC-0D89AD472ED3}"/>
              </a:ext>
            </a:extLst>
          </p:cNvPr>
          <p:cNvSpPr>
            <a:spLocks noGrp="1"/>
          </p:cNvSpPr>
          <p:nvPr>
            <p:ph type="title"/>
          </p:nvPr>
        </p:nvSpPr>
        <p:spPr>
          <a:xfrm>
            <a:off x="216189" y="199318"/>
            <a:ext cx="6693310" cy="738663"/>
          </a:xfrm>
        </p:spPr>
        <p:txBody>
          <a:bodyPr>
            <a:normAutofit/>
          </a:bodyPr>
          <a:lstStyle/>
          <a:p>
            <a:r>
              <a:rPr lang="en-US" dirty="0"/>
              <a:t>Visualization chambers</a:t>
            </a:r>
            <a:endParaRPr lang="en-US" noProof="0" dirty="0"/>
          </a:p>
        </p:txBody>
      </p:sp>
      <p:sp>
        <p:nvSpPr>
          <p:cNvPr id="11" name="TextBox 10">
            <a:extLst>
              <a:ext uri="{FF2B5EF4-FFF2-40B4-BE49-F238E27FC236}">
                <a16:creationId xmlns:a16="http://schemas.microsoft.com/office/drawing/2014/main" id="{2C7E36C0-F06A-2981-114A-CDD21D6B6509}"/>
              </a:ext>
            </a:extLst>
          </p:cNvPr>
          <p:cNvSpPr txBox="1"/>
          <p:nvPr/>
        </p:nvSpPr>
        <p:spPr>
          <a:xfrm>
            <a:off x="7726205" y="154661"/>
            <a:ext cx="2508619" cy="369332"/>
          </a:xfrm>
          <a:prstGeom prst="rect">
            <a:avLst/>
          </a:prstGeom>
          <a:noFill/>
        </p:spPr>
        <p:txBody>
          <a:bodyPr wrap="square" rtlCol="0">
            <a:spAutoFit/>
          </a:bodyPr>
          <a:lstStyle/>
          <a:p>
            <a:pPr algn="ctr"/>
            <a:r>
              <a:rPr lang="en-US" dirty="0">
                <a:solidFill>
                  <a:schemeClr val="bg2">
                    <a:lumMod val="50000"/>
                  </a:schemeClr>
                </a:solidFill>
              </a:rPr>
              <a:t>Measures</a:t>
            </a:r>
            <a:endParaRPr lang="en-US" noProof="0" dirty="0">
              <a:solidFill>
                <a:schemeClr val="bg2">
                  <a:lumMod val="50000"/>
                </a:schemeClr>
              </a:solidFill>
            </a:endParaRPr>
          </a:p>
        </p:txBody>
      </p:sp>
      <p:sp>
        <p:nvSpPr>
          <p:cNvPr id="12" name="TextBox 11">
            <a:extLst>
              <a:ext uri="{FF2B5EF4-FFF2-40B4-BE49-F238E27FC236}">
                <a16:creationId xmlns:a16="http://schemas.microsoft.com/office/drawing/2014/main" id="{FE6BD09D-945C-0D86-4B05-92FC02C800D7}"/>
              </a:ext>
            </a:extLst>
          </p:cNvPr>
          <p:cNvSpPr txBox="1"/>
          <p:nvPr/>
        </p:nvSpPr>
        <p:spPr>
          <a:xfrm>
            <a:off x="785188" y="3174333"/>
            <a:ext cx="4368227" cy="1200329"/>
          </a:xfrm>
          <a:prstGeom prst="rect">
            <a:avLst/>
          </a:prstGeom>
          <a:noFill/>
        </p:spPr>
        <p:txBody>
          <a:bodyPr wrap="square" rtlCol="0">
            <a:spAutoFit/>
          </a:bodyPr>
          <a:lstStyle/>
          <a:p>
            <a:pPr algn="just"/>
            <a:r>
              <a:rPr lang="en-US" dirty="0"/>
              <a:t>These chips work to visualize small objects (cells, droplets, among others).</a:t>
            </a:r>
          </a:p>
          <a:p>
            <a:pPr algn="just"/>
            <a:r>
              <a:rPr lang="en-US" noProof="0" dirty="0"/>
              <a:t>Also, they can be adapted </a:t>
            </a:r>
            <a:r>
              <a:rPr lang="en-US" dirty="0"/>
              <a:t>for other uses by changing the number of punches </a:t>
            </a:r>
            <a:endParaRPr lang="en-US" noProof="0" dirty="0"/>
          </a:p>
        </p:txBody>
      </p:sp>
      <p:sp>
        <p:nvSpPr>
          <p:cNvPr id="14" name="TextBox 13">
            <a:extLst>
              <a:ext uri="{FF2B5EF4-FFF2-40B4-BE49-F238E27FC236}">
                <a16:creationId xmlns:a16="http://schemas.microsoft.com/office/drawing/2014/main" id="{D77215DB-ABBB-CBF0-0B3F-EFF588A4E0B2}"/>
              </a:ext>
            </a:extLst>
          </p:cNvPr>
          <p:cNvSpPr txBox="1"/>
          <p:nvPr/>
        </p:nvSpPr>
        <p:spPr>
          <a:xfrm>
            <a:off x="358132" y="1112085"/>
            <a:ext cx="5222338" cy="1754326"/>
          </a:xfrm>
          <a:prstGeom prst="rect">
            <a:avLst/>
          </a:prstGeom>
          <a:noFill/>
        </p:spPr>
        <p:txBody>
          <a:bodyPr wrap="square" rtlCol="0">
            <a:spAutoFit/>
          </a:bodyPr>
          <a:lstStyle/>
          <a:p>
            <a:pPr algn="just"/>
            <a:r>
              <a:rPr lang="en-US" dirty="0">
                <a:solidFill>
                  <a:schemeClr val="bg2">
                    <a:lumMod val="50000"/>
                  </a:schemeClr>
                </a:solidFill>
              </a:rPr>
              <a:t>These chips are from a pre-existing mold in the lab. </a:t>
            </a:r>
          </a:p>
          <a:p>
            <a:pPr algn="just"/>
            <a:r>
              <a:rPr lang="en-US" noProof="0" dirty="0">
                <a:solidFill>
                  <a:schemeClr val="bg2">
                    <a:lumMod val="50000"/>
                  </a:schemeClr>
                </a:solidFill>
              </a:rPr>
              <a:t>They are pre</a:t>
            </a:r>
            <a:r>
              <a:rPr lang="en-US" dirty="0">
                <a:solidFill>
                  <a:schemeClr val="bg2">
                    <a:lumMod val="50000"/>
                  </a:schemeClr>
                </a:solidFill>
              </a:rPr>
              <a:t>pared with a 10:1 PDMS (SYLGARD 184 Silicone Elastomer) mix ratio, cured at 80°C for 80 minutes, punched with a 1.5 mm biopsy punch, and bonded to a glass slide using a Plasma Cleaner.</a:t>
            </a:r>
            <a:endParaRPr lang="en-US" noProof="0" dirty="0">
              <a:solidFill>
                <a:schemeClr val="bg2">
                  <a:lumMod val="50000"/>
                </a:schemeClr>
              </a:solidFill>
            </a:endParaRPr>
          </a:p>
        </p:txBody>
      </p:sp>
      <p:grpSp>
        <p:nvGrpSpPr>
          <p:cNvPr id="5" name="Group 4">
            <a:extLst>
              <a:ext uri="{FF2B5EF4-FFF2-40B4-BE49-F238E27FC236}">
                <a16:creationId xmlns:a16="http://schemas.microsoft.com/office/drawing/2014/main" id="{1D9830BF-9910-9CEC-879E-B4A7C55DA064}"/>
              </a:ext>
            </a:extLst>
          </p:cNvPr>
          <p:cNvGrpSpPr/>
          <p:nvPr/>
        </p:nvGrpSpPr>
        <p:grpSpPr>
          <a:xfrm>
            <a:off x="6027254" y="512642"/>
            <a:ext cx="5906520" cy="5037780"/>
            <a:chOff x="5897366" y="846935"/>
            <a:chExt cx="5906520" cy="5037780"/>
          </a:xfrm>
        </p:grpSpPr>
        <p:grpSp>
          <p:nvGrpSpPr>
            <p:cNvPr id="45" name="Group 44">
              <a:extLst>
                <a:ext uri="{FF2B5EF4-FFF2-40B4-BE49-F238E27FC236}">
                  <a16:creationId xmlns:a16="http://schemas.microsoft.com/office/drawing/2014/main" id="{E3145492-B12D-521E-C24D-309552365A22}"/>
                </a:ext>
              </a:extLst>
            </p:cNvPr>
            <p:cNvGrpSpPr/>
            <p:nvPr/>
          </p:nvGrpSpPr>
          <p:grpSpPr>
            <a:xfrm>
              <a:off x="5897366" y="846935"/>
              <a:ext cx="2592808" cy="5037780"/>
              <a:chOff x="5897366" y="846935"/>
              <a:chExt cx="2592808" cy="5037780"/>
            </a:xfrm>
          </p:grpSpPr>
          <p:grpSp>
            <p:nvGrpSpPr>
              <p:cNvPr id="44" name="Group 43">
                <a:extLst>
                  <a:ext uri="{FF2B5EF4-FFF2-40B4-BE49-F238E27FC236}">
                    <a16:creationId xmlns:a16="http://schemas.microsoft.com/office/drawing/2014/main" id="{69160527-8257-1973-2C01-7DF19210B2B6}"/>
                  </a:ext>
                </a:extLst>
              </p:cNvPr>
              <p:cNvGrpSpPr/>
              <p:nvPr/>
            </p:nvGrpSpPr>
            <p:grpSpPr>
              <a:xfrm>
                <a:off x="5897366" y="1091976"/>
                <a:ext cx="2592808" cy="4493563"/>
                <a:chOff x="5897366" y="1091976"/>
                <a:chExt cx="2592808" cy="4493563"/>
              </a:xfrm>
            </p:grpSpPr>
            <p:grpSp>
              <p:nvGrpSpPr>
                <p:cNvPr id="34" name="Group 33">
                  <a:extLst>
                    <a:ext uri="{FF2B5EF4-FFF2-40B4-BE49-F238E27FC236}">
                      <a16:creationId xmlns:a16="http://schemas.microsoft.com/office/drawing/2014/main" id="{D5ECFD0E-6BBE-A2E7-A7FA-A878094AE63A}"/>
                    </a:ext>
                  </a:extLst>
                </p:cNvPr>
                <p:cNvGrpSpPr/>
                <p:nvPr/>
              </p:nvGrpSpPr>
              <p:grpSpPr>
                <a:xfrm>
                  <a:off x="6556243" y="1091976"/>
                  <a:ext cx="1933931" cy="4493563"/>
                  <a:chOff x="6556243" y="1091976"/>
                  <a:chExt cx="1933931" cy="4493563"/>
                </a:xfrm>
              </p:grpSpPr>
              <p:sp>
                <p:nvSpPr>
                  <p:cNvPr id="23" name="TextBox 22">
                    <a:extLst>
                      <a:ext uri="{FF2B5EF4-FFF2-40B4-BE49-F238E27FC236}">
                        <a16:creationId xmlns:a16="http://schemas.microsoft.com/office/drawing/2014/main" id="{12CEE3F9-3AC5-B5B2-1CDA-3BD2ACD88685}"/>
                      </a:ext>
                    </a:extLst>
                  </p:cNvPr>
                  <p:cNvSpPr txBox="1"/>
                  <p:nvPr/>
                </p:nvSpPr>
                <p:spPr>
                  <a:xfrm>
                    <a:off x="6585936" y="5323929"/>
                    <a:ext cx="813655" cy="261610"/>
                  </a:xfrm>
                  <a:prstGeom prst="rect">
                    <a:avLst/>
                  </a:prstGeom>
                  <a:noFill/>
                </p:spPr>
                <p:txBody>
                  <a:bodyPr wrap="square" rtlCol="0">
                    <a:spAutoFit/>
                  </a:bodyPr>
                  <a:lstStyle/>
                  <a:p>
                    <a:pPr algn="ctr"/>
                    <a:r>
                      <a:rPr lang="es-CL" sz="1100" dirty="0"/>
                      <a:t>~4300 µm</a:t>
                    </a:r>
                  </a:p>
                </p:txBody>
              </p:sp>
              <p:sp>
                <p:nvSpPr>
                  <p:cNvPr id="40" name="TextBox 39">
                    <a:extLst>
                      <a:ext uri="{FF2B5EF4-FFF2-40B4-BE49-F238E27FC236}">
                        <a16:creationId xmlns:a16="http://schemas.microsoft.com/office/drawing/2014/main" id="{1DBABC54-E65E-16CA-C12B-B1FC71347A86}"/>
                      </a:ext>
                    </a:extLst>
                  </p:cNvPr>
                  <p:cNvSpPr txBox="1"/>
                  <p:nvPr/>
                </p:nvSpPr>
                <p:spPr>
                  <a:xfrm>
                    <a:off x="6574424" y="1091976"/>
                    <a:ext cx="813655" cy="261610"/>
                  </a:xfrm>
                  <a:prstGeom prst="rect">
                    <a:avLst/>
                  </a:prstGeom>
                  <a:noFill/>
                </p:spPr>
                <p:txBody>
                  <a:bodyPr wrap="square" rtlCol="0">
                    <a:spAutoFit/>
                  </a:bodyPr>
                  <a:lstStyle/>
                  <a:p>
                    <a:pPr algn="ctr"/>
                    <a:r>
                      <a:rPr lang="es-CL" sz="1100" dirty="0"/>
                      <a:t>~1000 µm</a:t>
                    </a:r>
                  </a:p>
                </p:txBody>
              </p:sp>
              <p:grpSp>
                <p:nvGrpSpPr>
                  <p:cNvPr id="33" name="Group 32">
                    <a:extLst>
                      <a:ext uri="{FF2B5EF4-FFF2-40B4-BE49-F238E27FC236}">
                        <a16:creationId xmlns:a16="http://schemas.microsoft.com/office/drawing/2014/main" id="{8033ABDB-CF27-09C3-238B-3A419340EE40}"/>
                      </a:ext>
                    </a:extLst>
                  </p:cNvPr>
                  <p:cNvGrpSpPr/>
                  <p:nvPr/>
                </p:nvGrpSpPr>
                <p:grpSpPr>
                  <a:xfrm>
                    <a:off x="6556243" y="1393750"/>
                    <a:ext cx="1933931" cy="3870343"/>
                    <a:chOff x="6556243" y="1393750"/>
                    <a:chExt cx="1933931" cy="3870343"/>
                  </a:xfrm>
                </p:grpSpPr>
                <p:pic>
                  <p:nvPicPr>
                    <p:cNvPr id="9" name="Picture 8">
                      <a:extLst>
                        <a:ext uri="{FF2B5EF4-FFF2-40B4-BE49-F238E27FC236}">
                          <a16:creationId xmlns:a16="http://schemas.microsoft.com/office/drawing/2014/main" id="{143A06AA-DF55-192F-7A2F-AF0C96719C4B}"/>
                        </a:ext>
                      </a:extLst>
                    </p:cNvPr>
                    <p:cNvPicPr>
                      <a:picLocks noChangeAspect="1"/>
                    </p:cNvPicPr>
                    <p:nvPr/>
                  </p:nvPicPr>
                  <p:blipFill>
                    <a:blip r:embed="rId2"/>
                    <a:stretch>
                      <a:fillRect/>
                    </a:stretch>
                  </p:blipFill>
                  <p:spPr>
                    <a:xfrm rot="10800000">
                      <a:off x="6684869" y="1557322"/>
                      <a:ext cx="615790" cy="3600000"/>
                    </a:xfrm>
                    <a:prstGeom prst="rect">
                      <a:avLst/>
                    </a:prstGeom>
                  </p:spPr>
                </p:pic>
                <p:sp>
                  <p:nvSpPr>
                    <p:cNvPr id="20" name="Right Brace 19">
                      <a:extLst>
                        <a:ext uri="{FF2B5EF4-FFF2-40B4-BE49-F238E27FC236}">
                          <a16:creationId xmlns:a16="http://schemas.microsoft.com/office/drawing/2014/main" id="{0942543E-D35C-28A1-6660-3E3BA557B9C2}"/>
                        </a:ext>
                      </a:extLst>
                    </p:cNvPr>
                    <p:cNvSpPr/>
                    <p:nvPr/>
                  </p:nvSpPr>
                  <p:spPr>
                    <a:xfrm rot="5400000">
                      <a:off x="6883100" y="4978086"/>
                      <a:ext cx="180000" cy="392014"/>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21" name="Right Brace 20">
                      <a:extLst>
                        <a:ext uri="{FF2B5EF4-FFF2-40B4-BE49-F238E27FC236}">
                          <a16:creationId xmlns:a16="http://schemas.microsoft.com/office/drawing/2014/main" id="{08D3016B-BF74-A719-C098-A895B2ABA68B}"/>
                        </a:ext>
                      </a:extLst>
                    </p:cNvPr>
                    <p:cNvSpPr/>
                    <p:nvPr/>
                  </p:nvSpPr>
                  <p:spPr>
                    <a:xfrm rot="10800000">
                      <a:off x="6556243" y="1646302"/>
                      <a:ext cx="180000" cy="3385888"/>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pic>
                  <p:nvPicPr>
                    <p:cNvPr id="29" name="Picture 28">
                      <a:extLst>
                        <a:ext uri="{FF2B5EF4-FFF2-40B4-BE49-F238E27FC236}">
                          <a16:creationId xmlns:a16="http://schemas.microsoft.com/office/drawing/2014/main" id="{A75AD8BE-9742-E3C1-2D2B-E1BCF256D379}"/>
                        </a:ext>
                      </a:extLst>
                    </p:cNvPr>
                    <p:cNvPicPr>
                      <a:picLocks noChangeAspect="1"/>
                    </p:cNvPicPr>
                    <p:nvPr/>
                  </p:nvPicPr>
                  <p:blipFill>
                    <a:blip r:embed="rId3"/>
                    <a:stretch>
                      <a:fillRect/>
                    </a:stretch>
                  </p:blipFill>
                  <p:spPr>
                    <a:xfrm rot="10800000">
                      <a:off x="7823681" y="1561460"/>
                      <a:ext cx="666493" cy="3600000"/>
                    </a:xfrm>
                    <a:prstGeom prst="rect">
                      <a:avLst/>
                    </a:prstGeom>
                  </p:spPr>
                </p:pic>
                <p:sp>
                  <p:nvSpPr>
                    <p:cNvPr id="25" name="Right Brace 24">
                      <a:extLst>
                        <a:ext uri="{FF2B5EF4-FFF2-40B4-BE49-F238E27FC236}">
                          <a16:creationId xmlns:a16="http://schemas.microsoft.com/office/drawing/2014/main" id="{6551792D-7D65-A63E-F74B-CA282D909941}"/>
                        </a:ext>
                      </a:extLst>
                    </p:cNvPr>
                    <p:cNvSpPr/>
                    <p:nvPr/>
                  </p:nvSpPr>
                  <p:spPr>
                    <a:xfrm rot="14018031">
                      <a:off x="7885806" y="2568604"/>
                      <a:ext cx="180000" cy="1800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L"/>
                    </a:p>
                  </p:txBody>
                </p:sp>
                <p:sp>
                  <p:nvSpPr>
                    <p:cNvPr id="32" name="Right Brace 31">
                      <a:extLst>
                        <a:ext uri="{FF2B5EF4-FFF2-40B4-BE49-F238E27FC236}">
                          <a16:creationId xmlns:a16="http://schemas.microsoft.com/office/drawing/2014/main" id="{8CC7F0F6-FE16-B18D-0EFB-B55DBB9C8EEC}"/>
                        </a:ext>
                      </a:extLst>
                    </p:cNvPr>
                    <p:cNvSpPr/>
                    <p:nvPr/>
                  </p:nvSpPr>
                  <p:spPr>
                    <a:xfrm rot="16200000">
                      <a:off x="6873727" y="1411750"/>
                      <a:ext cx="179999" cy="144000"/>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cxnSp>
                  <p:nvCxnSpPr>
                    <p:cNvPr id="36" name="Straight Connector 35">
                      <a:extLst>
                        <a:ext uri="{FF2B5EF4-FFF2-40B4-BE49-F238E27FC236}">
                          <a16:creationId xmlns:a16="http://schemas.microsoft.com/office/drawing/2014/main" id="{72864C06-8790-9F13-67DD-B3DF17545937}"/>
                        </a:ext>
                      </a:extLst>
                    </p:cNvPr>
                    <p:cNvCxnSpPr>
                      <a:cxnSpLocks/>
                    </p:cNvCxnSpPr>
                    <p:nvPr/>
                  </p:nvCxnSpPr>
                  <p:spPr>
                    <a:xfrm rot="10800000" flipV="1">
                      <a:off x="6899748" y="1614645"/>
                      <a:ext cx="0" cy="3991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30308661-E900-4C9C-6A61-FBACBEBCAA58}"/>
                        </a:ext>
                      </a:extLst>
                    </p:cNvPr>
                    <p:cNvCxnSpPr>
                      <a:cxnSpLocks/>
                    </p:cNvCxnSpPr>
                    <p:nvPr/>
                  </p:nvCxnSpPr>
                  <p:spPr>
                    <a:xfrm rot="10800000" flipV="1">
                      <a:off x="7038715" y="1614644"/>
                      <a:ext cx="0" cy="399157"/>
                    </a:xfrm>
                    <a:prstGeom prst="line">
                      <a:avLst/>
                    </a:prstGeom>
                    <a:ln>
                      <a:solidFill>
                        <a:srgbClr val="FF0000"/>
                      </a:solidFill>
                      <a:prstDash val="dash"/>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849E4624-96BB-3115-1124-C30E57B5F57F}"/>
                        </a:ext>
                      </a:extLst>
                    </p:cNvPr>
                    <p:cNvSpPr txBox="1"/>
                    <p:nvPr/>
                  </p:nvSpPr>
                  <p:spPr>
                    <a:xfrm>
                      <a:off x="7341017" y="2297215"/>
                      <a:ext cx="813655" cy="261610"/>
                    </a:xfrm>
                    <a:prstGeom prst="rect">
                      <a:avLst/>
                    </a:prstGeom>
                    <a:noFill/>
                  </p:spPr>
                  <p:txBody>
                    <a:bodyPr wrap="square" rtlCol="0">
                      <a:spAutoFit/>
                    </a:bodyPr>
                    <a:lstStyle/>
                    <a:p>
                      <a:pPr algn="ctr"/>
                      <a:r>
                        <a:rPr lang="es-CL" sz="1100" dirty="0"/>
                        <a:t>~180 µm</a:t>
                      </a:r>
                    </a:p>
                  </p:txBody>
                </p:sp>
              </p:grpSp>
            </p:grpSp>
            <p:sp>
              <p:nvSpPr>
                <p:cNvPr id="2" name="TextBox 1">
                  <a:extLst>
                    <a:ext uri="{FF2B5EF4-FFF2-40B4-BE49-F238E27FC236}">
                      <a16:creationId xmlns:a16="http://schemas.microsoft.com/office/drawing/2014/main" id="{B7CFBB07-1A03-C832-F37A-670E5D308C6E}"/>
                    </a:ext>
                  </a:extLst>
                </p:cNvPr>
                <p:cNvSpPr txBox="1"/>
                <p:nvPr/>
              </p:nvSpPr>
              <p:spPr>
                <a:xfrm>
                  <a:off x="5897366" y="3208441"/>
                  <a:ext cx="813655" cy="261610"/>
                </a:xfrm>
                <a:prstGeom prst="rect">
                  <a:avLst/>
                </a:prstGeom>
                <a:noFill/>
              </p:spPr>
              <p:txBody>
                <a:bodyPr wrap="square" rtlCol="0">
                  <a:spAutoFit/>
                </a:bodyPr>
                <a:lstStyle/>
                <a:p>
                  <a:pPr algn="ctr"/>
                  <a:r>
                    <a:rPr lang="es-CL" sz="1100" dirty="0"/>
                    <a:t>~ 3 cm</a:t>
                  </a:r>
                </a:p>
              </p:txBody>
            </p:sp>
          </p:grpSp>
          <p:sp>
            <p:nvSpPr>
              <p:cNvPr id="15" name="TextBox 14">
                <a:extLst>
                  <a:ext uri="{FF2B5EF4-FFF2-40B4-BE49-F238E27FC236}">
                    <a16:creationId xmlns:a16="http://schemas.microsoft.com/office/drawing/2014/main" id="{5F9C9CCB-FD08-4EAD-C3EA-C6A0F49D6EC7}"/>
                  </a:ext>
                </a:extLst>
              </p:cNvPr>
              <p:cNvSpPr txBox="1"/>
              <p:nvPr/>
            </p:nvSpPr>
            <p:spPr>
              <a:xfrm>
                <a:off x="7116381" y="846935"/>
                <a:ext cx="813655" cy="276999"/>
              </a:xfrm>
              <a:prstGeom prst="rect">
                <a:avLst/>
              </a:prstGeom>
              <a:noFill/>
            </p:spPr>
            <p:txBody>
              <a:bodyPr wrap="square" rtlCol="0">
                <a:spAutoFit/>
              </a:bodyPr>
              <a:lstStyle/>
              <a:p>
                <a:pPr algn="ctr"/>
                <a:r>
                  <a:rPr lang="es-CL" sz="1200" dirty="0"/>
                  <a:t>Inlet</a:t>
                </a:r>
              </a:p>
            </p:txBody>
          </p:sp>
          <p:sp>
            <p:nvSpPr>
              <p:cNvPr id="28" name="TextBox 27">
                <a:extLst>
                  <a:ext uri="{FF2B5EF4-FFF2-40B4-BE49-F238E27FC236}">
                    <a16:creationId xmlns:a16="http://schemas.microsoft.com/office/drawing/2014/main" id="{EA37F7CB-588C-FF5D-8236-2E21FC53445F}"/>
                  </a:ext>
                </a:extLst>
              </p:cNvPr>
              <p:cNvSpPr txBox="1"/>
              <p:nvPr/>
            </p:nvSpPr>
            <p:spPr>
              <a:xfrm>
                <a:off x="7116381" y="5607716"/>
                <a:ext cx="813655" cy="276999"/>
              </a:xfrm>
              <a:prstGeom prst="rect">
                <a:avLst/>
              </a:prstGeom>
              <a:noFill/>
            </p:spPr>
            <p:txBody>
              <a:bodyPr wrap="square" rtlCol="0">
                <a:spAutoFit/>
              </a:bodyPr>
              <a:lstStyle/>
              <a:p>
                <a:pPr algn="ctr"/>
                <a:r>
                  <a:rPr lang="es-CL" sz="1200" dirty="0"/>
                  <a:t>Outlet</a:t>
                </a:r>
              </a:p>
            </p:txBody>
          </p:sp>
        </p:grpSp>
        <p:grpSp>
          <p:nvGrpSpPr>
            <p:cNvPr id="43" name="Group 42">
              <a:extLst>
                <a:ext uri="{FF2B5EF4-FFF2-40B4-BE49-F238E27FC236}">
                  <a16:creationId xmlns:a16="http://schemas.microsoft.com/office/drawing/2014/main" id="{347C18CD-0D27-3E81-6D65-AC8E5D3C30EF}"/>
                </a:ext>
              </a:extLst>
            </p:cNvPr>
            <p:cNvGrpSpPr/>
            <p:nvPr/>
          </p:nvGrpSpPr>
          <p:grpSpPr>
            <a:xfrm>
              <a:off x="8835949" y="846935"/>
              <a:ext cx="2967937" cy="5037780"/>
              <a:chOff x="8835949" y="846935"/>
              <a:chExt cx="2967937" cy="5037780"/>
            </a:xfrm>
          </p:grpSpPr>
          <p:sp>
            <p:nvSpPr>
              <p:cNvPr id="3" name="TextBox 2">
                <a:extLst>
                  <a:ext uri="{FF2B5EF4-FFF2-40B4-BE49-F238E27FC236}">
                    <a16:creationId xmlns:a16="http://schemas.microsoft.com/office/drawing/2014/main" id="{30818640-4E11-ADC7-2D9E-92E595941294}"/>
                  </a:ext>
                </a:extLst>
              </p:cNvPr>
              <p:cNvSpPr txBox="1"/>
              <p:nvPr/>
            </p:nvSpPr>
            <p:spPr>
              <a:xfrm>
                <a:off x="8835949" y="3174333"/>
                <a:ext cx="813655" cy="261610"/>
              </a:xfrm>
              <a:prstGeom prst="rect">
                <a:avLst/>
              </a:prstGeom>
              <a:noFill/>
            </p:spPr>
            <p:txBody>
              <a:bodyPr wrap="square" rtlCol="0">
                <a:spAutoFit/>
              </a:bodyPr>
              <a:lstStyle/>
              <a:p>
                <a:pPr algn="ctr"/>
                <a:r>
                  <a:rPr lang="es-CL" sz="1100" dirty="0"/>
                  <a:t>~ 3 cm</a:t>
                </a:r>
              </a:p>
            </p:txBody>
          </p:sp>
          <p:grpSp>
            <p:nvGrpSpPr>
              <p:cNvPr id="38" name="Group 37">
                <a:extLst>
                  <a:ext uri="{FF2B5EF4-FFF2-40B4-BE49-F238E27FC236}">
                    <a16:creationId xmlns:a16="http://schemas.microsoft.com/office/drawing/2014/main" id="{48C7F840-81AF-2A59-5251-5F3D3ABA4A08}"/>
                  </a:ext>
                </a:extLst>
              </p:cNvPr>
              <p:cNvGrpSpPr/>
              <p:nvPr/>
            </p:nvGrpSpPr>
            <p:grpSpPr>
              <a:xfrm>
                <a:off x="9465946" y="846935"/>
                <a:ext cx="2337940" cy="5037780"/>
                <a:chOff x="9465946" y="846935"/>
                <a:chExt cx="2337940" cy="5037780"/>
              </a:xfrm>
            </p:grpSpPr>
            <p:grpSp>
              <p:nvGrpSpPr>
                <p:cNvPr id="7" name="Group 6">
                  <a:extLst>
                    <a:ext uri="{FF2B5EF4-FFF2-40B4-BE49-F238E27FC236}">
                      <a16:creationId xmlns:a16="http://schemas.microsoft.com/office/drawing/2014/main" id="{A4B1DF50-E2E6-C94E-ACAF-41B2A97C3EFD}"/>
                    </a:ext>
                  </a:extLst>
                </p:cNvPr>
                <p:cNvGrpSpPr/>
                <p:nvPr/>
              </p:nvGrpSpPr>
              <p:grpSpPr>
                <a:xfrm>
                  <a:off x="9465946" y="1089608"/>
                  <a:ext cx="2337940" cy="4498299"/>
                  <a:chOff x="7057307" y="612716"/>
                  <a:chExt cx="2337940" cy="4498299"/>
                </a:xfrm>
              </p:grpSpPr>
              <p:pic>
                <p:nvPicPr>
                  <p:cNvPr id="13" name="Picture 12">
                    <a:extLst>
                      <a:ext uri="{FF2B5EF4-FFF2-40B4-BE49-F238E27FC236}">
                        <a16:creationId xmlns:a16="http://schemas.microsoft.com/office/drawing/2014/main" id="{798AC1D2-7074-C2B3-3397-A1AB204BF38B}"/>
                      </a:ext>
                    </a:extLst>
                  </p:cNvPr>
                  <p:cNvPicPr>
                    <a:picLocks noChangeAspect="1"/>
                  </p:cNvPicPr>
                  <p:nvPr/>
                </p:nvPicPr>
                <p:blipFill>
                  <a:blip r:embed="rId4"/>
                  <a:stretch>
                    <a:fillRect/>
                  </a:stretch>
                </p:blipFill>
                <p:spPr>
                  <a:xfrm rot="10800000">
                    <a:off x="7121373" y="1033632"/>
                    <a:ext cx="865522" cy="3600000"/>
                  </a:xfrm>
                  <a:prstGeom prst="rect">
                    <a:avLst/>
                  </a:prstGeom>
                </p:spPr>
              </p:pic>
              <p:sp>
                <p:nvSpPr>
                  <p:cNvPr id="18" name="Right Brace 17">
                    <a:extLst>
                      <a:ext uri="{FF2B5EF4-FFF2-40B4-BE49-F238E27FC236}">
                        <a16:creationId xmlns:a16="http://schemas.microsoft.com/office/drawing/2014/main" id="{AF8908CB-A9F4-6479-720A-35E0B8179C36}"/>
                      </a:ext>
                    </a:extLst>
                  </p:cNvPr>
                  <p:cNvSpPr/>
                  <p:nvPr/>
                </p:nvSpPr>
                <p:spPr>
                  <a:xfrm rot="5400000">
                    <a:off x="7482190" y="4364075"/>
                    <a:ext cx="180000" cy="612000"/>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19" name="Right Brace 18">
                    <a:extLst>
                      <a:ext uri="{FF2B5EF4-FFF2-40B4-BE49-F238E27FC236}">
                        <a16:creationId xmlns:a16="http://schemas.microsoft.com/office/drawing/2014/main" id="{3E86A6A9-1AC4-F49E-3688-0BFEB6ACEEEF}"/>
                      </a:ext>
                    </a:extLst>
                  </p:cNvPr>
                  <p:cNvSpPr/>
                  <p:nvPr/>
                </p:nvSpPr>
                <p:spPr>
                  <a:xfrm rot="10800000">
                    <a:off x="7057307" y="1122612"/>
                    <a:ext cx="180000" cy="3385888"/>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22" name="TextBox 21">
                    <a:extLst>
                      <a:ext uri="{FF2B5EF4-FFF2-40B4-BE49-F238E27FC236}">
                        <a16:creationId xmlns:a16="http://schemas.microsoft.com/office/drawing/2014/main" id="{95A92CCD-97CD-0FEC-6148-81D1F1A3BACD}"/>
                      </a:ext>
                    </a:extLst>
                  </p:cNvPr>
                  <p:cNvSpPr txBox="1"/>
                  <p:nvPr/>
                </p:nvSpPr>
                <p:spPr>
                  <a:xfrm>
                    <a:off x="7165363" y="4849405"/>
                    <a:ext cx="813655" cy="261610"/>
                  </a:xfrm>
                  <a:prstGeom prst="rect">
                    <a:avLst/>
                  </a:prstGeom>
                  <a:noFill/>
                </p:spPr>
                <p:txBody>
                  <a:bodyPr wrap="square" rtlCol="0">
                    <a:spAutoFit/>
                  </a:bodyPr>
                  <a:lstStyle/>
                  <a:p>
                    <a:pPr algn="ctr"/>
                    <a:r>
                      <a:rPr lang="es-CL" sz="1100" dirty="0"/>
                      <a:t>~4700 µm</a:t>
                    </a:r>
                  </a:p>
                </p:txBody>
              </p:sp>
              <p:sp>
                <p:nvSpPr>
                  <p:cNvPr id="26" name="Right Brace 25">
                    <a:extLst>
                      <a:ext uri="{FF2B5EF4-FFF2-40B4-BE49-F238E27FC236}">
                        <a16:creationId xmlns:a16="http://schemas.microsoft.com/office/drawing/2014/main" id="{0B5CA3C2-E3A9-D1E6-6BE7-7652384470B8}"/>
                      </a:ext>
                    </a:extLst>
                  </p:cNvPr>
                  <p:cNvSpPr/>
                  <p:nvPr/>
                </p:nvSpPr>
                <p:spPr>
                  <a:xfrm rot="16200000">
                    <a:off x="7452695" y="848099"/>
                    <a:ext cx="179999" cy="196850"/>
                  </a:xfrm>
                  <a:prstGeom prst="rightBrace">
                    <a:avLst/>
                  </a:prstGeom>
                  <a:ln>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27" name="TextBox 26">
                    <a:extLst>
                      <a:ext uri="{FF2B5EF4-FFF2-40B4-BE49-F238E27FC236}">
                        <a16:creationId xmlns:a16="http://schemas.microsoft.com/office/drawing/2014/main" id="{7B60DEB3-1B1A-51CD-4CD1-13B08C2AA84B}"/>
                      </a:ext>
                    </a:extLst>
                  </p:cNvPr>
                  <p:cNvSpPr txBox="1"/>
                  <p:nvPr/>
                </p:nvSpPr>
                <p:spPr>
                  <a:xfrm>
                    <a:off x="7155531" y="612716"/>
                    <a:ext cx="813655" cy="261610"/>
                  </a:xfrm>
                  <a:prstGeom prst="rect">
                    <a:avLst/>
                  </a:prstGeom>
                  <a:noFill/>
                </p:spPr>
                <p:txBody>
                  <a:bodyPr wrap="square" rtlCol="0">
                    <a:spAutoFit/>
                  </a:bodyPr>
                  <a:lstStyle/>
                  <a:p>
                    <a:pPr algn="ctr"/>
                    <a:r>
                      <a:rPr lang="es-CL" sz="1100" dirty="0"/>
                      <a:t>~570 µm</a:t>
                    </a:r>
                  </a:p>
                </p:txBody>
              </p:sp>
              <p:pic>
                <p:nvPicPr>
                  <p:cNvPr id="31" name="Picture 30">
                    <a:extLst>
                      <a:ext uri="{FF2B5EF4-FFF2-40B4-BE49-F238E27FC236}">
                        <a16:creationId xmlns:a16="http://schemas.microsoft.com/office/drawing/2014/main" id="{F803CF20-025E-2999-DAFA-2A4BAC983AB3}"/>
                      </a:ext>
                    </a:extLst>
                  </p:cNvPr>
                  <p:cNvPicPr>
                    <a:picLocks noChangeAspect="1"/>
                  </p:cNvPicPr>
                  <p:nvPr/>
                </p:nvPicPr>
                <p:blipFill>
                  <a:blip r:embed="rId5"/>
                  <a:stretch>
                    <a:fillRect/>
                  </a:stretch>
                </p:blipFill>
                <p:spPr>
                  <a:xfrm rot="10800000">
                    <a:off x="8455705" y="1033632"/>
                    <a:ext cx="939542" cy="3600000"/>
                  </a:xfrm>
                  <a:prstGeom prst="rect">
                    <a:avLst/>
                  </a:prstGeom>
                </p:spPr>
              </p:pic>
              <p:sp>
                <p:nvSpPr>
                  <p:cNvPr id="24" name="Right Brace 23">
                    <a:extLst>
                      <a:ext uri="{FF2B5EF4-FFF2-40B4-BE49-F238E27FC236}">
                        <a16:creationId xmlns:a16="http://schemas.microsoft.com/office/drawing/2014/main" id="{AAF7C053-BF52-02B9-D6FD-41CEB2CF0FD4}"/>
                      </a:ext>
                    </a:extLst>
                  </p:cNvPr>
                  <p:cNvSpPr/>
                  <p:nvPr/>
                </p:nvSpPr>
                <p:spPr>
                  <a:xfrm rot="14514904">
                    <a:off x="8529468" y="2154286"/>
                    <a:ext cx="180000" cy="180000"/>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s-CL"/>
                  </a:p>
                </p:txBody>
              </p:sp>
              <p:sp>
                <p:nvSpPr>
                  <p:cNvPr id="42" name="TextBox 41">
                    <a:extLst>
                      <a:ext uri="{FF2B5EF4-FFF2-40B4-BE49-F238E27FC236}">
                        <a16:creationId xmlns:a16="http://schemas.microsoft.com/office/drawing/2014/main" id="{04F72FC9-9C15-F6C7-B4B7-B1043C5F402B}"/>
                      </a:ext>
                    </a:extLst>
                  </p:cNvPr>
                  <p:cNvSpPr txBox="1"/>
                  <p:nvPr/>
                </p:nvSpPr>
                <p:spPr>
                  <a:xfrm>
                    <a:off x="8048877" y="1923380"/>
                    <a:ext cx="813655" cy="261610"/>
                  </a:xfrm>
                  <a:prstGeom prst="rect">
                    <a:avLst/>
                  </a:prstGeom>
                  <a:noFill/>
                </p:spPr>
                <p:txBody>
                  <a:bodyPr wrap="square" rtlCol="0">
                    <a:spAutoFit/>
                  </a:bodyPr>
                  <a:lstStyle/>
                  <a:p>
                    <a:pPr algn="ctr"/>
                    <a:r>
                      <a:rPr lang="es-CL" sz="1100" dirty="0"/>
                      <a:t>~85 µm</a:t>
                    </a:r>
                  </a:p>
                </p:txBody>
              </p:sp>
            </p:grpSp>
            <p:sp>
              <p:nvSpPr>
                <p:cNvPr id="17" name="TextBox 16">
                  <a:extLst>
                    <a:ext uri="{FF2B5EF4-FFF2-40B4-BE49-F238E27FC236}">
                      <a16:creationId xmlns:a16="http://schemas.microsoft.com/office/drawing/2014/main" id="{9A02210E-7AC8-E6EA-2F15-4C7A03B319CE}"/>
                    </a:ext>
                  </a:extLst>
                </p:cNvPr>
                <p:cNvSpPr txBox="1"/>
                <p:nvPr/>
              </p:nvSpPr>
              <p:spPr>
                <a:xfrm>
                  <a:off x="10228089" y="846935"/>
                  <a:ext cx="813655" cy="276999"/>
                </a:xfrm>
                <a:prstGeom prst="rect">
                  <a:avLst/>
                </a:prstGeom>
                <a:noFill/>
              </p:spPr>
              <p:txBody>
                <a:bodyPr wrap="square" rtlCol="0">
                  <a:spAutoFit/>
                </a:bodyPr>
                <a:lstStyle/>
                <a:p>
                  <a:pPr algn="ctr"/>
                  <a:r>
                    <a:rPr lang="es-CL" sz="1200" dirty="0"/>
                    <a:t>Inlet</a:t>
                  </a:r>
                </a:p>
              </p:txBody>
            </p:sp>
            <p:sp>
              <p:nvSpPr>
                <p:cNvPr id="30" name="TextBox 29">
                  <a:extLst>
                    <a:ext uri="{FF2B5EF4-FFF2-40B4-BE49-F238E27FC236}">
                      <a16:creationId xmlns:a16="http://schemas.microsoft.com/office/drawing/2014/main" id="{1E3CB017-1589-AA27-6A4D-5598AD449330}"/>
                    </a:ext>
                  </a:extLst>
                </p:cNvPr>
                <p:cNvSpPr txBox="1"/>
                <p:nvPr/>
              </p:nvSpPr>
              <p:spPr>
                <a:xfrm>
                  <a:off x="10228089" y="5607716"/>
                  <a:ext cx="813655" cy="276999"/>
                </a:xfrm>
                <a:prstGeom prst="rect">
                  <a:avLst/>
                </a:prstGeom>
                <a:noFill/>
              </p:spPr>
              <p:txBody>
                <a:bodyPr wrap="square" rtlCol="0">
                  <a:spAutoFit/>
                </a:bodyPr>
                <a:lstStyle/>
                <a:p>
                  <a:pPr algn="ctr"/>
                  <a:r>
                    <a:rPr lang="es-CL" sz="1200" dirty="0"/>
                    <a:t>Outlet</a:t>
                  </a:r>
                </a:p>
              </p:txBody>
            </p:sp>
          </p:grpSp>
        </p:grpSp>
      </p:grpSp>
      <p:sp>
        <p:nvSpPr>
          <p:cNvPr id="4" name="TextBox 3">
            <a:extLst>
              <a:ext uri="{FF2B5EF4-FFF2-40B4-BE49-F238E27FC236}">
                <a16:creationId xmlns:a16="http://schemas.microsoft.com/office/drawing/2014/main" id="{120824C0-13E2-0C9C-58EE-5DFBE112BF47}"/>
              </a:ext>
            </a:extLst>
          </p:cNvPr>
          <p:cNvSpPr txBox="1"/>
          <p:nvPr/>
        </p:nvSpPr>
        <p:spPr>
          <a:xfrm>
            <a:off x="6082027" y="5569824"/>
            <a:ext cx="4275950" cy="1200329"/>
          </a:xfrm>
          <a:prstGeom prst="rect">
            <a:avLst/>
          </a:prstGeom>
          <a:noFill/>
        </p:spPr>
        <p:txBody>
          <a:bodyPr wrap="square" rtlCol="0">
            <a:spAutoFit/>
          </a:bodyPr>
          <a:lstStyle/>
          <a:p>
            <a:pPr algn="just"/>
            <a:r>
              <a:rPr lang="en-US" b="1" noProof="0" dirty="0"/>
              <a:t>Victor Teixeira Noronha </a:t>
            </a:r>
            <a:r>
              <a:rPr lang="en-US" noProof="0" dirty="0"/>
              <a:t>(Flow Interface)</a:t>
            </a:r>
            <a:endParaRPr lang="en-US" b="1" noProof="0" dirty="0"/>
          </a:p>
          <a:p>
            <a:pPr algn="just"/>
            <a:r>
              <a:rPr lang="en-US" b="1" noProof="0" dirty="0"/>
              <a:t>Pablo Lobos-Ruiz </a:t>
            </a:r>
            <a:r>
              <a:rPr lang="en-US" noProof="0" dirty="0"/>
              <a:t>(Flow interface)</a:t>
            </a:r>
            <a:endParaRPr lang="en-US" b="1" noProof="0" dirty="0"/>
          </a:p>
          <a:p>
            <a:pPr algn="just"/>
            <a:r>
              <a:rPr lang="en-US" b="1" noProof="0" dirty="0"/>
              <a:t>Lorenzo Tell </a:t>
            </a:r>
            <a:r>
              <a:rPr lang="en-US" noProof="0" dirty="0"/>
              <a:t>(Cells &amp; Tissues)</a:t>
            </a:r>
            <a:endParaRPr lang="en-US" b="1" noProof="0" dirty="0"/>
          </a:p>
          <a:p>
            <a:pPr algn="just"/>
            <a:r>
              <a:rPr lang="en-US" b="1" noProof="0" dirty="0"/>
              <a:t>Paula Céspedes </a:t>
            </a:r>
            <a:r>
              <a:rPr lang="en-US" noProof="0" dirty="0"/>
              <a:t>(Cells &amp; Tissues)</a:t>
            </a:r>
            <a:endParaRPr lang="en-US" b="1" noProof="0" dirty="0"/>
          </a:p>
        </p:txBody>
      </p:sp>
      <p:sp>
        <p:nvSpPr>
          <p:cNvPr id="6" name="TextBox 5">
            <a:extLst>
              <a:ext uri="{FF2B5EF4-FFF2-40B4-BE49-F238E27FC236}">
                <a16:creationId xmlns:a16="http://schemas.microsoft.com/office/drawing/2014/main" id="{42D56F30-FD78-F356-B5C9-4DF8A698EFAC}"/>
              </a:ext>
            </a:extLst>
          </p:cNvPr>
          <p:cNvSpPr txBox="1"/>
          <p:nvPr/>
        </p:nvSpPr>
        <p:spPr>
          <a:xfrm>
            <a:off x="10587405" y="5846822"/>
            <a:ext cx="1346370" cy="646331"/>
          </a:xfrm>
          <a:prstGeom prst="rect">
            <a:avLst/>
          </a:prstGeom>
          <a:noFill/>
        </p:spPr>
        <p:txBody>
          <a:bodyPr wrap="square" rtlCol="0">
            <a:spAutoFit/>
          </a:bodyPr>
          <a:lstStyle/>
          <a:p>
            <a:pPr algn="just"/>
            <a:r>
              <a:rPr lang="en-US" dirty="0"/>
              <a:t>W</a:t>
            </a:r>
            <a:r>
              <a:rPr lang="en-US" noProof="0" dirty="0"/>
              <a:t>ill receive both</a:t>
            </a:r>
          </a:p>
        </p:txBody>
      </p:sp>
      <p:sp>
        <p:nvSpPr>
          <p:cNvPr id="8" name="Right Brace 7">
            <a:extLst>
              <a:ext uri="{FF2B5EF4-FFF2-40B4-BE49-F238E27FC236}">
                <a16:creationId xmlns:a16="http://schemas.microsoft.com/office/drawing/2014/main" id="{113199D7-C52C-2BD6-2E38-B8F66EB8ACE3}"/>
              </a:ext>
            </a:extLst>
          </p:cNvPr>
          <p:cNvSpPr/>
          <p:nvPr/>
        </p:nvSpPr>
        <p:spPr>
          <a:xfrm>
            <a:off x="10357977" y="5732206"/>
            <a:ext cx="229427" cy="943897"/>
          </a:xfrm>
          <a:prstGeom prst="rightBrace">
            <a:avLst/>
          </a:prstGeom>
        </p:spPr>
        <p:style>
          <a:lnRef idx="2">
            <a:schemeClr val="dk1"/>
          </a:lnRef>
          <a:fillRef idx="0">
            <a:schemeClr val="dk1"/>
          </a:fillRef>
          <a:effectRef idx="1">
            <a:schemeClr val="dk1"/>
          </a:effectRef>
          <a:fontRef idx="minor">
            <a:schemeClr val="tx1"/>
          </a:fontRef>
        </p:style>
        <p:txBody>
          <a:bodyPr rtlCol="0" anchor="ctr"/>
          <a:lstStyle/>
          <a:p>
            <a:pPr algn="ctr"/>
            <a:endParaRPr lang="es-CL"/>
          </a:p>
        </p:txBody>
      </p:sp>
    </p:spTree>
    <p:extLst>
      <p:ext uri="{BB962C8B-B14F-4D97-AF65-F5344CB8AC3E}">
        <p14:creationId xmlns:p14="http://schemas.microsoft.com/office/powerpoint/2010/main" val="2163612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9CB6B558-B8A0-5BD4-B362-386A877BD42B}"/>
              </a:ext>
            </a:extLst>
          </p:cNvPr>
          <p:cNvGrpSpPr/>
          <p:nvPr/>
        </p:nvGrpSpPr>
        <p:grpSpPr>
          <a:xfrm>
            <a:off x="3786243" y="583667"/>
            <a:ext cx="8268373" cy="2047773"/>
            <a:chOff x="3585971" y="583667"/>
            <a:chExt cx="8268373" cy="2047773"/>
          </a:xfrm>
        </p:grpSpPr>
        <p:pic>
          <p:nvPicPr>
            <p:cNvPr id="5" name="Picture 4">
              <a:extLst>
                <a:ext uri="{FF2B5EF4-FFF2-40B4-BE49-F238E27FC236}">
                  <a16:creationId xmlns:a16="http://schemas.microsoft.com/office/drawing/2014/main" id="{4A467EBE-9117-1EB6-68F3-FA07D56F7F07}"/>
                </a:ext>
              </a:extLst>
            </p:cNvPr>
            <p:cNvPicPr>
              <a:picLocks noChangeAspect="1"/>
            </p:cNvPicPr>
            <p:nvPr/>
          </p:nvPicPr>
          <p:blipFill>
            <a:blip r:embed="rId3"/>
            <a:srcRect l="6868" r="12264"/>
            <a:stretch>
              <a:fillRect/>
            </a:stretch>
          </p:blipFill>
          <p:spPr>
            <a:xfrm>
              <a:off x="5399530" y="583667"/>
              <a:ext cx="4822985" cy="2047773"/>
            </a:xfrm>
            <a:prstGeom prst="rect">
              <a:avLst/>
            </a:prstGeom>
          </p:spPr>
        </p:pic>
        <p:sp>
          <p:nvSpPr>
            <p:cNvPr id="6" name="Arc 5">
              <a:extLst>
                <a:ext uri="{FF2B5EF4-FFF2-40B4-BE49-F238E27FC236}">
                  <a16:creationId xmlns:a16="http://schemas.microsoft.com/office/drawing/2014/main" id="{8EEC1056-07D0-C61B-C41E-337F69C02EAD}"/>
                </a:ext>
              </a:extLst>
            </p:cNvPr>
            <p:cNvSpPr/>
            <p:nvPr/>
          </p:nvSpPr>
          <p:spPr>
            <a:xfrm>
              <a:off x="3585971" y="1311102"/>
              <a:ext cx="2302866" cy="755207"/>
            </a:xfrm>
            <a:prstGeom prst="arc">
              <a:avLst/>
            </a:prstGeom>
            <a:ln w="76200">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7" name="Arc 6">
              <a:extLst>
                <a:ext uri="{FF2B5EF4-FFF2-40B4-BE49-F238E27FC236}">
                  <a16:creationId xmlns:a16="http://schemas.microsoft.com/office/drawing/2014/main" id="{85456BFE-6B80-EA92-1A0B-6F841E012CB8}"/>
                </a:ext>
              </a:extLst>
            </p:cNvPr>
            <p:cNvSpPr/>
            <p:nvPr/>
          </p:nvSpPr>
          <p:spPr>
            <a:xfrm flipH="1">
              <a:off x="9551478" y="1311102"/>
              <a:ext cx="2302866" cy="755207"/>
            </a:xfrm>
            <a:prstGeom prst="arc">
              <a:avLst/>
            </a:prstGeom>
            <a:ln w="76200">
              <a:solidFill>
                <a:srgbClr val="FF0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8" name="Diagonal Stripe 7">
              <a:extLst>
                <a:ext uri="{FF2B5EF4-FFF2-40B4-BE49-F238E27FC236}">
                  <a16:creationId xmlns:a16="http://schemas.microsoft.com/office/drawing/2014/main" id="{6176F0E1-F597-74AD-AAD4-F24DA410EBCC}"/>
                </a:ext>
              </a:extLst>
            </p:cNvPr>
            <p:cNvSpPr/>
            <p:nvPr/>
          </p:nvSpPr>
          <p:spPr>
            <a:xfrm flipV="1">
              <a:off x="6804946" y="1386622"/>
              <a:ext cx="380190" cy="302083"/>
            </a:xfrm>
            <a:prstGeom prst="diagStripe">
              <a:avLst/>
            </a:prstGeom>
            <a:solidFill>
              <a:schemeClr val="accent6">
                <a:lumMod val="75000"/>
              </a:schemeClr>
            </a:solidFill>
            <a:ln>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solidFill>
                  <a:schemeClr val="tx1"/>
                </a:solidFill>
              </a:endParaRPr>
            </a:p>
          </p:txBody>
        </p:sp>
        <p:sp>
          <p:nvSpPr>
            <p:cNvPr id="10" name="TextBox 9">
              <a:extLst>
                <a:ext uri="{FF2B5EF4-FFF2-40B4-BE49-F238E27FC236}">
                  <a16:creationId xmlns:a16="http://schemas.microsoft.com/office/drawing/2014/main" id="{5B71C8BE-EDAC-84B9-C01E-D27075458569}"/>
                </a:ext>
              </a:extLst>
            </p:cNvPr>
            <p:cNvSpPr txBox="1"/>
            <p:nvPr/>
          </p:nvSpPr>
          <p:spPr>
            <a:xfrm>
              <a:off x="3721906" y="1125012"/>
              <a:ext cx="1476553" cy="523220"/>
            </a:xfrm>
            <a:prstGeom prst="rect">
              <a:avLst/>
            </a:prstGeom>
            <a:noFill/>
          </p:spPr>
          <p:txBody>
            <a:bodyPr wrap="square" rtlCol="0">
              <a:spAutoFit/>
            </a:bodyPr>
            <a:lstStyle/>
            <a:p>
              <a:pPr algn="ctr"/>
              <a:r>
                <a:rPr lang="en-US" sz="1600" noProof="0" dirty="0"/>
                <a:t>Inlet</a:t>
              </a:r>
            </a:p>
            <a:p>
              <a:pPr algn="ctr"/>
              <a:r>
                <a:rPr lang="en-US" sz="1200" noProof="0" dirty="0"/>
                <a:t>(culture medium)</a:t>
              </a:r>
            </a:p>
          </p:txBody>
        </p:sp>
        <p:sp>
          <p:nvSpPr>
            <p:cNvPr id="11" name="TextBox 10">
              <a:extLst>
                <a:ext uri="{FF2B5EF4-FFF2-40B4-BE49-F238E27FC236}">
                  <a16:creationId xmlns:a16="http://schemas.microsoft.com/office/drawing/2014/main" id="{566E2000-ABC6-CD84-2330-EE2169620E7E}"/>
                </a:ext>
              </a:extLst>
            </p:cNvPr>
            <p:cNvSpPr txBox="1"/>
            <p:nvPr/>
          </p:nvSpPr>
          <p:spPr>
            <a:xfrm>
              <a:off x="10631602" y="1141825"/>
              <a:ext cx="813655" cy="338554"/>
            </a:xfrm>
            <a:prstGeom prst="rect">
              <a:avLst/>
            </a:prstGeom>
            <a:noFill/>
          </p:spPr>
          <p:txBody>
            <a:bodyPr wrap="square" rtlCol="0">
              <a:spAutoFit/>
            </a:bodyPr>
            <a:lstStyle/>
            <a:p>
              <a:pPr algn="ctr"/>
              <a:r>
                <a:rPr lang="en-US" sz="1600" noProof="0" dirty="0"/>
                <a:t>Outlet</a:t>
              </a:r>
            </a:p>
          </p:txBody>
        </p:sp>
        <p:sp>
          <p:nvSpPr>
            <p:cNvPr id="12" name="TextBox 11">
              <a:extLst>
                <a:ext uri="{FF2B5EF4-FFF2-40B4-BE49-F238E27FC236}">
                  <a16:creationId xmlns:a16="http://schemas.microsoft.com/office/drawing/2014/main" id="{71E92B22-20D6-FFAC-93FC-FDA2C080972B}"/>
                </a:ext>
              </a:extLst>
            </p:cNvPr>
            <p:cNvSpPr txBox="1"/>
            <p:nvPr/>
          </p:nvSpPr>
          <p:spPr>
            <a:xfrm>
              <a:off x="6113097" y="969170"/>
              <a:ext cx="2436338" cy="584775"/>
            </a:xfrm>
            <a:prstGeom prst="rect">
              <a:avLst/>
            </a:prstGeom>
            <a:noFill/>
          </p:spPr>
          <p:txBody>
            <a:bodyPr wrap="square" rtlCol="0">
              <a:spAutoFit/>
            </a:bodyPr>
            <a:lstStyle/>
            <a:p>
              <a:pPr algn="ctr"/>
              <a:r>
                <a:rPr lang="en-US" sz="1600" noProof="0" dirty="0"/>
                <a:t>Plant-in-Agarose filled 200ul tip</a:t>
              </a:r>
            </a:p>
          </p:txBody>
        </p:sp>
      </p:grpSp>
      <p:grpSp>
        <p:nvGrpSpPr>
          <p:cNvPr id="32" name="Group 31">
            <a:extLst>
              <a:ext uri="{FF2B5EF4-FFF2-40B4-BE49-F238E27FC236}">
                <a16:creationId xmlns:a16="http://schemas.microsoft.com/office/drawing/2014/main" id="{D695E2E1-68EC-1898-870D-D0EDD7B8C165}"/>
              </a:ext>
            </a:extLst>
          </p:cNvPr>
          <p:cNvGrpSpPr/>
          <p:nvPr/>
        </p:nvGrpSpPr>
        <p:grpSpPr>
          <a:xfrm>
            <a:off x="3725283" y="2356482"/>
            <a:ext cx="8390293" cy="4934305"/>
            <a:chOff x="3676835" y="2356482"/>
            <a:chExt cx="8390293" cy="4934305"/>
          </a:xfrm>
        </p:grpSpPr>
        <p:grpSp>
          <p:nvGrpSpPr>
            <p:cNvPr id="31" name="Group 30">
              <a:extLst>
                <a:ext uri="{FF2B5EF4-FFF2-40B4-BE49-F238E27FC236}">
                  <a16:creationId xmlns:a16="http://schemas.microsoft.com/office/drawing/2014/main" id="{0FBFC817-4E2F-BECB-01C0-97149A89FF86}"/>
                </a:ext>
              </a:extLst>
            </p:cNvPr>
            <p:cNvGrpSpPr/>
            <p:nvPr/>
          </p:nvGrpSpPr>
          <p:grpSpPr>
            <a:xfrm>
              <a:off x="3676835" y="3075240"/>
              <a:ext cx="8390293" cy="3402667"/>
              <a:chOff x="3676835" y="3075240"/>
              <a:chExt cx="8390293" cy="3402667"/>
            </a:xfrm>
          </p:grpSpPr>
          <p:grpSp>
            <p:nvGrpSpPr>
              <p:cNvPr id="28" name="Group 27">
                <a:extLst>
                  <a:ext uri="{FF2B5EF4-FFF2-40B4-BE49-F238E27FC236}">
                    <a16:creationId xmlns:a16="http://schemas.microsoft.com/office/drawing/2014/main" id="{5C33AE0D-0EF4-9A83-F798-7AFC14A1D566}"/>
                  </a:ext>
                </a:extLst>
              </p:cNvPr>
              <p:cNvGrpSpPr/>
              <p:nvPr/>
            </p:nvGrpSpPr>
            <p:grpSpPr>
              <a:xfrm>
                <a:off x="3676835" y="3075240"/>
                <a:ext cx="8390293" cy="3402667"/>
                <a:chOff x="3676835" y="3075240"/>
                <a:chExt cx="8390293" cy="3402667"/>
              </a:xfrm>
            </p:grpSpPr>
            <p:pic>
              <p:nvPicPr>
                <p:cNvPr id="17" name="Picture 16">
                  <a:extLst>
                    <a:ext uri="{FF2B5EF4-FFF2-40B4-BE49-F238E27FC236}">
                      <a16:creationId xmlns:a16="http://schemas.microsoft.com/office/drawing/2014/main" id="{760BA900-00D8-C9E0-0331-9A4A04F9EB58}"/>
                    </a:ext>
                  </a:extLst>
                </p:cNvPr>
                <p:cNvPicPr>
                  <a:picLocks noChangeAspect="1"/>
                </p:cNvPicPr>
                <p:nvPr/>
              </p:nvPicPr>
              <p:blipFill>
                <a:blip r:embed="rId4"/>
                <a:stretch>
                  <a:fillRect/>
                </a:stretch>
              </p:blipFill>
              <p:spPr>
                <a:xfrm>
                  <a:off x="5359921" y="3787860"/>
                  <a:ext cx="4902201" cy="1934041"/>
                </a:xfrm>
                <a:prstGeom prst="rect">
                  <a:avLst/>
                </a:prstGeom>
              </p:spPr>
            </p:pic>
            <p:sp>
              <p:nvSpPr>
                <p:cNvPr id="14" name="Arc 13">
                  <a:extLst>
                    <a:ext uri="{FF2B5EF4-FFF2-40B4-BE49-F238E27FC236}">
                      <a16:creationId xmlns:a16="http://schemas.microsoft.com/office/drawing/2014/main" id="{A499FD17-13CF-0055-A9BB-5A53ED8EE1F4}"/>
                    </a:ext>
                  </a:extLst>
                </p:cNvPr>
                <p:cNvSpPr/>
                <p:nvPr/>
              </p:nvSpPr>
              <p:spPr>
                <a:xfrm>
                  <a:off x="3676835" y="4481591"/>
                  <a:ext cx="2302866"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15" name="Arc 14">
                  <a:extLst>
                    <a:ext uri="{FF2B5EF4-FFF2-40B4-BE49-F238E27FC236}">
                      <a16:creationId xmlns:a16="http://schemas.microsoft.com/office/drawing/2014/main" id="{5EEA8B58-BA22-EE26-A6F9-CF638E6F1AA9}"/>
                    </a:ext>
                  </a:extLst>
                </p:cNvPr>
                <p:cNvSpPr/>
                <p:nvPr/>
              </p:nvSpPr>
              <p:spPr>
                <a:xfrm flipH="1">
                  <a:off x="9764262" y="4377276"/>
                  <a:ext cx="2302866"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23" name="TextBox 22">
                  <a:extLst>
                    <a:ext uri="{FF2B5EF4-FFF2-40B4-BE49-F238E27FC236}">
                      <a16:creationId xmlns:a16="http://schemas.microsoft.com/office/drawing/2014/main" id="{13BC0B2A-895A-B0BA-3633-0E2B73E98C9D}"/>
                    </a:ext>
                  </a:extLst>
                </p:cNvPr>
                <p:cNvSpPr txBox="1"/>
                <p:nvPr/>
              </p:nvSpPr>
              <p:spPr>
                <a:xfrm>
                  <a:off x="7483090" y="3075240"/>
                  <a:ext cx="1476553" cy="338554"/>
                </a:xfrm>
                <a:prstGeom prst="rect">
                  <a:avLst/>
                </a:prstGeom>
                <a:noFill/>
              </p:spPr>
              <p:txBody>
                <a:bodyPr wrap="square" rtlCol="0">
                  <a:spAutoFit/>
                </a:bodyPr>
                <a:lstStyle/>
                <a:p>
                  <a:pPr algn="ctr"/>
                  <a:r>
                    <a:rPr lang="en-US" sz="1600" noProof="0" dirty="0"/>
                    <a:t>Inlet</a:t>
                  </a:r>
                </a:p>
              </p:txBody>
            </p:sp>
            <p:sp>
              <p:nvSpPr>
                <p:cNvPr id="24" name="TextBox 23">
                  <a:extLst>
                    <a:ext uri="{FF2B5EF4-FFF2-40B4-BE49-F238E27FC236}">
                      <a16:creationId xmlns:a16="http://schemas.microsoft.com/office/drawing/2014/main" id="{DD237A34-A15D-00CA-668D-820B5F903795}"/>
                    </a:ext>
                  </a:extLst>
                </p:cNvPr>
                <p:cNvSpPr txBox="1"/>
                <p:nvPr/>
              </p:nvSpPr>
              <p:spPr>
                <a:xfrm>
                  <a:off x="7975560" y="6139353"/>
                  <a:ext cx="813655" cy="338554"/>
                </a:xfrm>
                <a:prstGeom prst="rect">
                  <a:avLst/>
                </a:prstGeom>
                <a:noFill/>
              </p:spPr>
              <p:txBody>
                <a:bodyPr wrap="square" rtlCol="0">
                  <a:spAutoFit/>
                </a:bodyPr>
                <a:lstStyle/>
                <a:p>
                  <a:pPr algn="ctr"/>
                  <a:r>
                    <a:rPr lang="en-US" sz="1600" noProof="0" dirty="0"/>
                    <a:t>Outlet</a:t>
                  </a:r>
                </a:p>
              </p:txBody>
            </p:sp>
            <p:sp>
              <p:nvSpPr>
                <p:cNvPr id="25" name="TextBox 24">
                  <a:extLst>
                    <a:ext uri="{FF2B5EF4-FFF2-40B4-BE49-F238E27FC236}">
                      <a16:creationId xmlns:a16="http://schemas.microsoft.com/office/drawing/2014/main" id="{A49C5909-C614-1F1C-E4B6-7FD4645EBED0}"/>
                    </a:ext>
                  </a:extLst>
                </p:cNvPr>
                <p:cNvSpPr txBox="1"/>
                <p:nvPr/>
              </p:nvSpPr>
              <p:spPr>
                <a:xfrm>
                  <a:off x="3795803" y="4250461"/>
                  <a:ext cx="1476553" cy="523220"/>
                </a:xfrm>
                <a:prstGeom prst="rect">
                  <a:avLst/>
                </a:prstGeom>
                <a:noFill/>
              </p:spPr>
              <p:txBody>
                <a:bodyPr wrap="square" rtlCol="0">
                  <a:spAutoFit/>
                </a:bodyPr>
                <a:lstStyle/>
                <a:p>
                  <a:pPr algn="ctr"/>
                  <a:r>
                    <a:rPr lang="en-US" sz="1600" noProof="0" dirty="0"/>
                    <a:t>Inlet</a:t>
                  </a:r>
                </a:p>
                <a:p>
                  <a:pPr algn="ctr"/>
                  <a:r>
                    <a:rPr lang="en-US" sz="1200" noProof="0" dirty="0"/>
                    <a:t>(oil for perfusion)</a:t>
                  </a:r>
                </a:p>
              </p:txBody>
            </p:sp>
          </p:grpSp>
          <p:sp>
            <p:nvSpPr>
              <p:cNvPr id="26" name="TextBox 25">
                <a:extLst>
                  <a:ext uri="{FF2B5EF4-FFF2-40B4-BE49-F238E27FC236}">
                    <a16:creationId xmlns:a16="http://schemas.microsoft.com/office/drawing/2014/main" id="{B9983675-34AA-84D4-B5AC-21AF2194A283}"/>
                  </a:ext>
                </a:extLst>
              </p:cNvPr>
              <p:cNvSpPr txBox="1"/>
              <p:nvPr/>
            </p:nvSpPr>
            <p:spPr>
              <a:xfrm>
                <a:off x="10461447" y="4165556"/>
                <a:ext cx="1476553" cy="523220"/>
              </a:xfrm>
              <a:prstGeom prst="rect">
                <a:avLst/>
              </a:prstGeom>
              <a:noFill/>
            </p:spPr>
            <p:txBody>
              <a:bodyPr wrap="square" rtlCol="0">
                <a:spAutoFit/>
              </a:bodyPr>
              <a:lstStyle/>
              <a:p>
                <a:pPr algn="ctr"/>
                <a:r>
                  <a:rPr lang="en-US" sz="1600" noProof="0" dirty="0"/>
                  <a:t>Inlet</a:t>
                </a:r>
              </a:p>
              <a:p>
                <a:pPr algn="ctr"/>
                <a:r>
                  <a:rPr lang="en-US" sz="1200" noProof="0" dirty="0"/>
                  <a:t>(oil for perfusion)</a:t>
                </a:r>
              </a:p>
            </p:txBody>
          </p:sp>
        </p:grpSp>
        <p:sp>
          <p:nvSpPr>
            <p:cNvPr id="20" name="Arc 19">
              <a:extLst>
                <a:ext uri="{FF2B5EF4-FFF2-40B4-BE49-F238E27FC236}">
                  <a16:creationId xmlns:a16="http://schemas.microsoft.com/office/drawing/2014/main" id="{93843C84-2AF5-8E1E-708E-36B1DD0E3474}"/>
                </a:ext>
              </a:extLst>
            </p:cNvPr>
            <p:cNvSpPr/>
            <p:nvPr/>
          </p:nvSpPr>
          <p:spPr>
            <a:xfrm rot="5088716">
              <a:off x="6750779" y="3130311"/>
              <a:ext cx="2302866" cy="755207"/>
            </a:xfrm>
            <a:prstGeom prst="arc">
              <a:avLst/>
            </a:prstGeom>
            <a:ln w="76200"/>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22" name="Arc 21">
              <a:extLst>
                <a:ext uri="{FF2B5EF4-FFF2-40B4-BE49-F238E27FC236}">
                  <a16:creationId xmlns:a16="http://schemas.microsoft.com/office/drawing/2014/main" id="{D9F0E79F-20DD-9B04-35DA-3B07CB406FF7}"/>
                </a:ext>
              </a:extLst>
            </p:cNvPr>
            <p:cNvSpPr/>
            <p:nvPr/>
          </p:nvSpPr>
          <p:spPr>
            <a:xfrm rot="16511284" flipV="1">
              <a:off x="6811833" y="5761750"/>
              <a:ext cx="2302866" cy="755207"/>
            </a:xfrm>
            <a:prstGeom prst="arc">
              <a:avLst/>
            </a:prstGeom>
            <a:ln w="76200"/>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grpSp>
      <p:sp>
        <p:nvSpPr>
          <p:cNvPr id="29" name="TextBox 28">
            <a:extLst>
              <a:ext uri="{FF2B5EF4-FFF2-40B4-BE49-F238E27FC236}">
                <a16:creationId xmlns:a16="http://schemas.microsoft.com/office/drawing/2014/main" id="{8FE09BDE-5D09-1CBB-50AE-C96AB3AD6DC7}"/>
              </a:ext>
            </a:extLst>
          </p:cNvPr>
          <p:cNvSpPr txBox="1"/>
          <p:nvPr/>
        </p:nvSpPr>
        <p:spPr>
          <a:xfrm>
            <a:off x="596479" y="798999"/>
            <a:ext cx="3043782" cy="1477328"/>
          </a:xfrm>
          <a:prstGeom prst="rect">
            <a:avLst/>
          </a:prstGeom>
          <a:noFill/>
        </p:spPr>
        <p:txBody>
          <a:bodyPr wrap="square" rtlCol="0">
            <a:spAutoFit/>
          </a:bodyPr>
          <a:lstStyle/>
          <a:p>
            <a:pPr algn="just"/>
            <a:r>
              <a:rPr lang="en-US" noProof="0" dirty="0">
                <a:solidFill>
                  <a:schemeClr val="bg2">
                    <a:lumMod val="25000"/>
                  </a:schemeClr>
                </a:solidFill>
              </a:rPr>
              <a:t>Design A: The punch for the root has an angle close to 45°, and can be filled with a pipette tip (p200) for the plant root culture</a:t>
            </a:r>
          </a:p>
        </p:txBody>
      </p:sp>
      <p:sp>
        <p:nvSpPr>
          <p:cNvPr id="30" name="TextBox 29">
            <a:extLst>
              <a:ext uri="{FF2B5EF4-FFF2-40B4-BE49-F238E27FC236}">
                <a16:creationId xmlns:a16="http://schemas.microsoft.com/office/drawing/2014/main" id="{B632FF58-8FC1-4059-2F3C-3D6B067E7B8F}"/>
              </a:ext>
            </a:extLst>
          </p:cNvPr>
          <p:cNvSpPr txBox="1"/>
          <p:nvPr/>
        </p:nvSpPr>
        <p:spPr>
          <a:xfrm>
            <a:off x="596479" y="3566532"/>
            <a:ext cx="3043782" cy="2585323"/>
          </a:xfrm>
          <a:prstGeom prst="rect">
            <a:avLst/>
          </a:prstGeom>
          <a:noFill/>
        </p:spPr>
        <p:txBody>
          <a:bodyPr wrap="square" rtlCol="0">
            <a:spAutoFit/>
          </a:bodyPr>
          <a:lstStyle/>
          <a:p>
            <a:pPr algn="just"/>
            <a:r>
              <a:rPr lang="en-US" dirty="0">
                <a:solidFill>
                  <a:schemeClr val="bg2">
                    <a:lumMod val="25000"/>
                  </a:schemeClr>
                </a:solidFill>
              </a:rPr>
              <a:t>Design B: The orange temporary inlet and outlets (later to be blocked with a pin or glue) are to fill in the matrix, lyophilize the whole chip to make it porous, and then use the chip with cell and reagent flow between the blue connections. </a:t>
            </a:r>
            <a:endParaRPr lang="en-US" noProof="0" dirty="0">
              <a:solidFill>
                <a:schemeClr val="bg2">
                  <a:lumMod val="25000"/>
                </a:schemeClr>
              </a:solidFill>
            </a:endParaRPr>
          </a:p>
        </p:txBody>
      </p:sp>
      <p:sp>
        <p:nvSpPr>
          <p:cNvPr id="2" name="TextBox 1">
            <a:extLst>
              <a:ext uri="{FF2B5EF4-FFF2-40B4-BE49-F238E27FC236}">
                <a16:creationId xmlns:a16="http://schemas.microsoft.com/office/drawing/2014/main" id="{F7390A84-DFFD-EC6A-7147-7A30D6A5CFE8}"/>
              </a:ext>
            </a:extLst>
          </p:cNvPr>
          <p:cNvSpPr txBox="1"/>
          <p:nvPr/>
        </p:nvSpPr>
        <p:spPr>
          <a:xfrm>
            <a:off x="313295" y="2276327"/>
            <a:ext cx="3610151" cy="646331"/>
          </a:xfrm>
          <a:prstGeom prst="rect">
            <a:avLst/>
          </a:prstGeom>
          <a:noFill/>
        </p:spPr>
        <p:txBody>
          <a:bodyPr wrap="square" rtlCol="0">
            <a:spAutoFit/>
          </a:bodyPr>
          <a:lstStyle/>
          <a:p>
            <a:pPr algn="ctr"/>
            <a:r>
              <a:rPr lang="en-US" b="1" noProof="0" dirty="0"/>
              <a:t>Ramiro Rodriguez </a:t>
            </a:r>
            <a:r>
              <a:rPr lang="en-US" noProof="0" dirty="0"/>
              <a:t>(Flow Interface)</a:t>
            </a:r>
            <a:endParaRPr lang="en-US" b="1" dirty="0"/>
          </a:p>
          <a:p>
            <a:pPr algn="ctr"/>
            <a:r>
              <a:rPr lang="en-US" noProof="0" dirty="0"/>
              <a:t>Will receive it</a:t>
            </a:r>
          </a:p>
        </p:txBody>
      </p:sp>
      <p:sp>
        <p:nvSpPr>
          <p:cNvPr id="3" name="TextBox 2">
            <a:extLst>
              <a:ext uri="{FF2B5EF4-FFF2-40B4-BE49-F238E27FC236}">
                <a16:creationId xmlns:a16="http://schemas.microsoft.com/office/drawing/2014/main" id="{27BEB988-2B15-D0AF-410B-8DFD2E2FDCDB}"/>
              </a:ext>
            </a:extLst>
          </p:cNvPr>
          <p:cNvSpPr txBox="1"/>
          <p:nvPr/>
        </p:nvSpPr>
        <p:spPr>
          <a:xfrm>
            <a:off x="216241" y="6123964"/>
            <a:ext cx="3804259" cy="646331"/>
          </a:xfrm>
          <a:prstGeom prst="rect">
            <a:avLst/>
          </a:prstGeom>
          <a:noFill/>
        </p:spPr>
        <p:txBody>
          <a:bodyPr wrap="square" rtlCol="0">
            <a:spAutoFit/>
          </a:bodyPr>
          <a:lstStyle/>
          <a:p>
            <a:pPr algn="ctr"/>
            <a:r>
              <a:rPr lang="en-US" b="1" noProof="0" dirty="0"/>
              <a:t>Juan Carlos Forero </a:t>
            </a:r>
            <a:r>
              <a:rPr lang="en-US" noProof="0" dirty="0"/>
              <a:t>(Cells &amp; Tissues)</a:t>
            </a:r>
            <a:r>
              <a:rPr lang="en-US" b="1" noProof="0" dirty="0"/>
              <a:t> </a:t>
            </a:r>
          </a:p>
          <a:p>
            <a:pPr algn="ctr"/>
            <a:r>
              <a:rPr lang="en-US" dirty="0"/>
              <a:t>W</a:t>
            </a:r>
            <a:r>
              <a:rPr lang="en-US" noProof="0" dirty="0"/>
              <a:t>ill receive it</a:t>
            </a:r>
          </a:p>
        </p:txBody>
      </p:sp>
    </p:spTree>
    <p:extLst>
      <p:ext uri="{BB962C8B-B14F-4D97-AF65-F5344CB8AC3E}">
        <p14:creationId xmlns:p14="http://schemas.microsoft.com/office/powerpoint/2010/main" val="25695919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Group 62">
            <a:extLst>
              <a:ext uri="{FF2B5EF4-FFF2-40B4-BE49-F238E27FC236}">
                <a16:creationId xmlns:a16="http://schemas.microsoft.com/office/drawing/2014/main" id="{9CF72AD2-6434-23C6-B1B0-6CE024572F98}"/>
              </a:ext>
            </a:extLst>
          </p:cNvPr>
          <p:cNvGrpSpPr/>
          <p:nvPr/>
        </p:nvGrpSpPr>
        <p:grpSpPr>
          <a:xfrm>
            <a:off x="2865120" y="3796219"/>
            <a:ext cx="9591039" cy="2178795"/>
            <a:chOff x="2865120" y="3672413"/>
            <a:chExt cx="9591039" cy="2178795"/>
          </a:xfrm>
        </p:grpSpPr>
        <p:grpSp>
          <p:nvGrpSpPr>
            <p:cNvPr id="25" name="Group 24">
              <a:extLst>
                <a:ext uri="{FF2B5EF4-FFF2-40B4-BE49-F238E27FC236}">
                  <a16:creationId xmlns:a16="http://schemas.microsoft.com/office/drawing/2014/main" id="{8917FED9-B955-2BA4-0A71-BF2E885FE3D7}"/>
                </a:ext>
              </a:extLst>
            </p:cNvPr>
            <p:cNvGrpSpPr/>
            <p:nvPr/>
          </p:nvGrpSpPr>
          <p:grpSpPr>
            <a:xfrm>
              <a:off x="3676835" y="3777656"/>
              <a:ext cx="8390293" cy="1934041"/>
              <a:chOff x="3676835" y="3787860"/>
              <a:chExt cx="8390293" cy="1934041"/>
            </a:xfrm>
          </p:grpSpPr>
          <p:grpSp>
            <p:nvGrpSpPr>
              <p:cNvPr id="26" name="Group 25">
                <a:extLst>
                  <a:ext uri="{FF2B5EF4-FFF2-40B4-BE49-F238E27FC236}">
                    <a16:creationId xmlns:a16="http://schemas.microsoft.com/office/drawing/2014/main" id="{A96FC384-D5FB-52B1-25E6-B859832BD5EA}"/>
                  </a:ext>
                </a:extLst>
              </p:cNvPr>
              <p:cNvGrpSpPr/>
              <p:nvPr/>
            </p:nvGrpSpPr>
            <p:grpSpPr>
              <a:xfrm>
                <a:off x="3676835" y="3787860"/>
                <a:ext cx="8390293" cy="1934041"/>
                <a:chOff x="3676835" y="3787860"/>
                <a:chExt cx="8390293" cy="1934041"/>
              </a:xfrm>
            </p:grpSpPr>
            <p:pic>
              <p:nvPicPr>
                <p:cNvPr id="28" name="Picture 27">
                  <a:extLst>
                    <a:ext uri="{FF2B5EF4-FFF2-40B4-BE49-F238E27FC236}">
                      <a16:creationId xmlns:a16="http://schemas.microsoft.com/office/drawing/2014/main" id="{2C949CE1-EADF-521F-0F6C-A03869C88BD2}"/>
                    </a:ext>
                  </a:extLst>
                </p:cNvPr>
                <p:cNvPicPr>
                  <a:picLocks noChangeAspect="1"/>
                </p:cNvPicPr>
                <p:nvPr/>
              </p:nvPicPr>
              <p:blipFill>
                <a:blip r:embed="rId3"/>
                <a:stretch>
                  <a:fillRect/>
                </a:stretch>
              </p:blipFill>
              <p:spPr>
                <a:xfrm>
                  <a:off x="5359921" y="3787860"/>
                  <a:ext cx="4902201" cy="1934041"/>
                </a:xfrm>
                <a:prstGeom prst="rect">
                  <a:avLst/>
                </a:prstGeom>
              </p:spPr>
            </p:pic>
            <p:sp>
              <p:nvSpPr>
                <p:cNvPr id="29" name="Arc 28">
                  <a:extLst>
                    <a:ext uri="{FF2B5EF4-FFF2-40B4-BE49-F238E27FC236}">
                      <a16:creationId xmlns:a16="http://schemas.microsoft.com/office/drawing/2014/main" id="{42A41536-1376-8DBD-6410-651B4D48BE03}"/>
                    </a:ext>
                  </a:extLst>
                </p:cNvPr>
                <p:cNvSpPr/>
                <p:nvPr/>
              </p:nvSpPr>
              <p:spPr>
                <a:xfrm>
                  <a:off x="3676835" y="4481591"/>
                  <a:ext cx="2302866" cy="755207"/>
                </a:xfrm>
                <a:prstGeom prst="arc">
                  <a:avLst/>
                </a:prstGeom>
                <a:ln w="76200">
                  <a:solidFill>
                    <a:schemeClr val="accent2">
                      <a:lumMod val="75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30" name="Arc 29">
                  <a:extLst>
                    <a:ext uri="{FF2B5EF4-FFF2-40B4-BE49-F238E27FC236}">
                      <a16:creationId xmlns:a16="http://schemas.microsoft.com/office/drawing/2014/main" id="{97948FB0-C5E4-1CCB-8BB2-352F84124740}"/>
                    </a:ext>
                  </a:extLst>
                </p:cNvPr>
                <p:cNvSpPr/>
                <p:nvPr/>
              </p:nvSpPr>
              <p:spPr>
                <a:xfrm flipH="1">
                  <a:off x="9764262" y="4468716"/>
                  <a:ext cx="2302866" cy="755207"/>
                </a:xfrm>
                <a:prstGeom prst="arc">
                  <a:avLst/>
                </a:prstGeom>
                <a:ln w="76200">
                  <a:solidFill>
                    <a:schemeClr val="accent2">
                      <a:lumMod val="75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33" name="TextBox 32">
                  <a:extLst>
                    <a:ext uri="{FF2B5EF4-FFF2-40B4-BE49-F238E27FC236}">
                      <a16:creationId xmlns:a16="http://schemas.microsoft.com/office/drawing/2014/main" id="{58733270-715A-6FFA-264A-E51F1ABD380F}"/>
                    </a:ext>
                  </a:extLst>
                </p:cNvPr>
                <p:cNvSpPr txBox="1"/>
                <p:nvPr/>
              </p:nvSpPr>
              <p:spPr>
                <a:xfrm>
                  <a:off x="3765323" y="4219981"/>
                  <a:ext cx="1476553" cy="523220"/>
                </a:xfrm>
                <a:prstGeom prst="rect">
                  <a:avLst/>
                </a:prstGeom>
                <a:noFill/>
              </p:spPr>
              <p:txBody>
                <a:bodyPr wrap="square" rtlCol="0">
                  <a:spAutoFit/>
                </a:bodyPr>
                <a:lstStyle/>
                <a:p>
                  <a:pPr algn="ctr"/>
                  <a:r>
                    <a:rPr lang="en-US" sz="1600" noProof="0" dirty="0"/>
                    <a:t>Inlet</a:t>
                  </a:r>
                </a:p>
                <a:p>
                  <a:pPr algn="ctr"/>
                  <a:r>
                    <a:rPr lang="en-US" sz="1200" noProof="0" dirty="0"/>
                    <a:t>(Hydrogel)</a:t>
                  </a:r>
                </a:p>
              </p:txBody>
            </p:sp>
          </p:grpSp>
          <p:sp>
            <p:nvSpPr>
              <p:cNvPr id="27" name="TextBox 26">
                <a:extLst>
                  <a:ext uri="{FF2B5EF4-FFF2-40B4-BE49-F238E27FC236}">
                    <a16:creationId xmlns:a16="http://schemas.microsoft.com/office/drawing/2014/main" id="{3D2983AE-B254-4388-9C38-8954BAE8866A}"/>
                  </a:ext>
                </a:extLst>
              </p:cNvPr>
              <p:cNvSpPr txBox="1"/>
              <p:nvPr/>
            </p:nvSpPr>
            <p:spPr>
              <a:xfrm>
                <a:off x="10529615" y="4227812"/>
                <a:ext cx="1476553" cy="523220"/>
              </a:xfrm>
              <a:prstGeom prst="rect">
                <a:avLst/>
              </a:prstGeom>
              <a:noFill/>
            </p:spPr>
            <p:txBody>
              <a:bodyPr wrap="square" rtlCol="0">
                <a:spAutoFit/>
              </a:bodyPr>
              <a:lstStyle/>
              <a:p>
                <a:pPr algn="ctr"/>
                <a:r>
                  <a:rPr lang="en-US" sz="1600" dirty="0"/>
                  <a:t>Out</a:t>
                </a:r>
                <a:r>
                  <a:rPr lang="en-US" sz="1600" noProof="0" dirty="0"/>
                  <a:t>let</a:t>
                </a:r>
              </a:p>
              <a:p>
                <a:pPr algn="ctr"/>
                <a:r>
                  <a:rPr lang="en-US" sz="1200" noProof="0" dirty="0"/>
                  <a:t>(Hydrogel)</a:t>
                </a:r>
              </a:p>
            </p:txBody>
          </p:sp>
        </p:grpSp>
        <p:sp>
          <p:nvSpPr>
            <p:cNvPr id="43" name="Arc 42">
              <a:extLst>
                <a:ext uri="{FF2B5EF4-FFF2-40B4-BE49-F238E27FC236}">
                  <a16:creationId xmlns:a16="http://schemas.microsoft.com/office/drawing/2014/main" id="{4B37538D-4160-6458-C797-7BB3552576CB}"/>
                </a:ext>
              </a:extLst>
            </p:cNvPr>
            <p:cNvSpPr/>
            <p:nvPr/>
          </p:nvSpPr>
          <p:spPr>
            <a:xfrm flipH="1">
              <a:off x="9103190" y="4306088"/>
              <a:ext cx="3352969"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44" name="Arc 43">
              <a:extLst>
                <a:ext uri="{FF2B5EF4-FFF2-40B4-BE49-F238E27FC236}">
                  <a16:creationId xmlns:a16="http://schemas.microsoft.com/office/drawing/2014/main" id="{3A57D9A5-949E-A81D-FE24-220547F8631C}"/>
                </a:ext>
              </a:extLst>
            </p:cNvPr>
            <p:cNvSpPr/>
            <p:nvPr/>
          </p:nvSpPr>
          <p:spPr>
            <a:xfrm flipH="1" flipV="1">
              <a:off x="9103190" y="4540177"/>
              <a:ext cx="3352969"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45" name="Arc 44">
              <a:extLst>
                <a:ext uri="{FF2B5EF4-FFF2-40B4-BE49-F238E27FC236}">
                  <a16:creationId xmlns:a16="http://schemas.microsoft.com/office/drawing/2014/main" id="{69B291ED-089B-5003-620A-2598E86861A7}"/>
                </a:ext>
              </a:extLst>
            </p:cNvPr>
            <p:cNvSpPr/>
            <p:nvPr/>
          </p:nvSpPr>
          <p:spPr>
            <a:xfrm>
              <a:off x="2865120" y="4306088"/>
              <a:ext cx="4266014"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dirty="0"/>
            </a:p>
          </p:txBody>
        </p:sp>
        <p:sp>
          <p:nvSpPr>
            <p:cNvPr id="46" name="Arc 45">
              <a:extLst>
                <a:ext uri="{FF2B5EF4-FFF2-40B4-BE49-F238E27FC236}">
                  <a16:creationId xmlns:a16="http://schemas.microsoft.com/office/drawing/2014/main" id="{71CB3178-DF2A-63EA-97BA-7BEF90A320A8}"/>
                </a:ext>
              </a:extLst>
            </p:cNvPr>
            <p:cNvSpPr/>
            <p:nvPr/>
          </p:nvSpPr>
          <p:spPr>
            <a:xfrm flipV="1">
              <a:off x="2865120" y="4559083"/>
              <a:ext cx="4266014" cy="755207"/>
            </a:xfrm>
            <a:prstGeom prst="arc">
              <a:avLst/>
            </a:prstGeom>
            <a:ln w="76200">
              <a:solidFill>
                <a:srgbClr val="0070C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55" name="TextBox 54">
              <a:extLst>
                <a:ext uri="{FF2B5EF4-FFF2-40B4-BE49-F238E27FC236}">
                  <a16:creationId xmlns:a16="http://schemas.microsoft.com/office/drawing/2014/main" id="{40CB3F8D-9545-0754-B413-0861BF80AED3}"/>
                </a:ext>
              </a:extLst>
            </p:cNvPr>
            <p:cNvSpPr txBox="1"/>
            <p:nvPr/>
          </p:nvSpPr>
          <p:spPr>
            <a:xfrm>
              <a:off x="5136446" y="3734713"/>
              <a:ext cx="1476553" cy="523220"/>
            </a:xfrm>
            <a:prstGeom prst="rect">
              <a:avLst/>
            </a:prstGeom>
            <a:noFill/>
          </p:spPr>
          <p:txBody>
            <a:bodyPr wrap="square" rtlCol="0">
              <a:spAutoFit/>
            </a:bodyPr>
            <a:lstStyle/>
            <a:p>
              <a:pPr algn="ctr"/>
              <a:r>
                <a:rPr lang="en-US" sz="1600" noProof="0" dirty="0"/>
                <a:t>Inlet</a:t>
              </a:r>
            </a:p>
            <a:p>
              <a:pPr algn="ctr"/>
              <a:r>
                <a:rPr lang="en-US" sz="1200" noProof="0" dirty="0"/>
                <a:t>(oil for perfusion)</a:t>
              </a:r>
            </a:p>
          </p:txBody>
        </p:sp>
        <p:sp>
          <p:nvSpPr>
            <p:cNvPr id="56" name="TextBox 55">
              <a:extLst>
                <a:ext uri="{FF2B5EF4-FFF2-40B4-BE49-F238E27FC236}">
                  <a16:creationId xmlns:a16="http://schemas.microsoft.com/office/drawing/2014/main" id="{6B32384A-8CBC-45BE-6D43-269D1F65DD3B}"/>
                </a:ext>
              </a:extLst>
            </p:cNvPr>
            <p:cNvSpPr txBox="1"/>
            <p:nvPr/>
          </p:nvSpPr>
          <p:spPr>
            <a:xfrm>
              <a:off x="5136446" y="5327988"/>
              <a:ext cx="1476553" cy="523220"/>
            </a:xfrm>
            <a:prstGeom prst="rect">
              <a:avLst/>
            </a:prstGeom>
            <a:noFill/>
          </p:spPr>
          <p:txBody>
            <a:bodyPr wrap="square" rtlCol="0">
              <a:spAutoFit/>
            </a:bodyPr>
            <a:lstStyle/>
            <a:p>
              <a:pPr algn="ctr"/>
              <a:r>
                <a:rPr lang="en-US" sz="1600" noProof="0" dirty="0"/>
                <a:t>Inlet</a:t>
              </a:r>
            </a:p>
            <a:p>
              <a:pPr algn="ctr"/>
              <a:r>
                <a:rPr lang="en-US" sz="1200" noProof="0" dirty="0"/>
                <a:t>(oil for perfusion)</a:t>
              </a:r>
            </a:p>
          </p:txBody>
        </p:sp>
        <p:sp>
          <p:nvSpPr>
            <p:cNvPr id="57" name="TextBox 56">
              <a:extLst>
                <a:ext uri="{FF2B5EF4-FFF2-40B4-BE49-F238E27FC236}">
                  <a16:creationId xmlns:a16="http://schemas.microsoft.com/office/drawing/2014/main" id="{32DEB169-B7CA-6BBF-950C-4B8CAD2728E9}"/>
                </a:ext>
              </a:extLst>
            </p:cNvPr>
            <p:cNvSpPr txBox="1"/>
            <p:nvPr/>
          </p:nvSpPr>
          <p:spPr>
            <a:xfrm>
              <a:off x="9688071" y="5295385"/>
              <a:ext cx="1476553" cy="523220"/>
            </a:xfrm>
            <a:prstGeom prst="rect">
              <a:avLst/>
            </a:prstGeom>
            <a:noFill/>
          </p:spPr>
          <p:txBody>
            <a:bodyPr wrap="square" rtlCol="0">
              <a:spAutoFit/>
            </a:bodyPr>
            <a:lstStyle/>
            <a:p>
              <a:pPr algn="ctr"/>
              <a:r>
                <a:rPr lang="en-US" sz="1600" dirty="0"/>
                <a:t>Out</a:t>
              </a:r>
              <a:r>
                <a:rPr lang="en-US" sz="1600" noProof="0" dirty="0"/>
                <a:t>let</a:t>
              </a:r>
            </a:p>
            <a:p>
              <a:pPr algn="ctr"/>
              <a:r>
                <a:rPr lang="en-US" sz="1200" noProof="0" dirty="0"/>
                <a:t>(oil for perfusion)</a:t>
              </a:r>
            </a:p>
          </p:txBody>
        </p:sp>
        <p:sp>
          <p:nvSpPr>
            <p:cNvPr id="58" name="TextBox 57">
              <a:extLst>
                <a:ext uri="{FF2B5EF4-FFF2-40B4-BE49-F238E27FC236}">
                  <a16:creationId xmlns:a16="http://schemas.microsoft.com/office/drawing/2014/main" id="{22AB857B-EA9D-687A-899F-E2075B3664E8}"/>
                </a:ext>
              </a:extLst>
            </p:cNvPr>
            <p:cNvSpPr txBox="1"/>
            <p:nvPr/>
          </p:nvSpPr>
          <p:spPr>
            <a:xfrm>
              <a:off x="9688072" y="3672413"/>
              <a:ext cx="1476553" cy="523220"/>
            </a:xfrm>
            <a:prstGeom prst="rect">
              <a:avLst/>
            </a:prstGeom>
            <a:noFill/>
          </p:spPr>
          <p:txBody>
            <a:bodyPr wrap="square" rtlCol="0">
              <a:spAutoFit/>
            </a:bodyPr>
            <a:lstStyle/>
            <a:p>
              <a:pPr algn="ctr"/>
              <a:r>
                <a:rPr lang="en-US" sz="1600" dirty="0"/>
                <a:t>Outlet</a:t>
              </a:r>
              <a:endParaRPr lang="en-US" sz="1600" noProof="0" dirty="0"/>
            </a:p>
            <a:p>
              <a:pPr algn="ctr"/>
              <a:r>
                <a:rPr lang="en-US" sz="1200" noProof="0" dirty="0"/>
                <a:t>(oil for perfusion)</a:t>
              </a:r>
            </a:p>
          </p:txBody>
        </p:sp>
      </p:grpSp>
      <p:grpSp>
        <p:nvGrpSpPr>
          <p:cNvPr id="66" name="Group 65">
            <a:extLst>
              <a:ext uri="{FF2B5EF4-FFF2-40B4-BE49-F238E27FC236}">
                <a16:creationId xmlns:a16="http://schemas.microsoft.com/office/drawing/2014/main" id="{55EF8DA9-5F0B-B9B9-CC41-3FF99E547A1C}"/>
              </a:ext>
            </a:extLst>
          </p:cNvPr>
          <p:cNvGrpSpPr/>
          <p:nvPr/>
        </p:nvGrpSpPr>
        <p:grpSpPr>
          <a:xfrm>
            <a:off x="2865120" y="699118"/>
            <a:ext cx="9202008" cy="1934041"/>
            <a:chOff x="2865120" y="587359"/>
            <a:chExt cx="9202008" cy="1934041"/>
          </a:xfrm>
        </p:grpSpPr>
        <p:grpSp>
          <p:nvGrpSpPr>
            <p:cNvPr id="64" name="Group 63">
              <a:extLst>
                <a:ext uri="{FF2B5EF4-FFF2-40B4-BE49-F238E27FC236}">
                  <a16:creationId xmlns:a16="http://schemas.microsoft.com/office/drawing/2014/main" id="{D254CB31-4374-1EA6-33A8-6D14F268255C}"/>
                </a:ext>
              </a:extLst>
            </p:cNvPr>
            <p:cNvGrpSpPr/>
            <p:nvPr/>
          </p:nvGrpSpPr>
          <p:grpSpPr>
            <a:xfrm>
              <a:off x="2865120" y="587359"/>
              <a:ext cx="9202008" cy="1934041"/>
              <a:chOff x="2865120" y="587359"/>
              <a:chExt cx="9202008" cy="1934041"/>
            </a:xfrm>
          </p:grpSpPr>
          <p:grpSp>
            <p:nvGrpSpPr>
              <p:cNvPr id="34" name="Group 33">
                <a:extLst>
                  <a:ext uri="{FF2B5EF4-FFF2-40B4-BE49-F238E27FC236}">
                    <a16:creationId xmlns:a16="http://schemas.microsoft.com/office/drawing/2014/main" id="{D9465FDE-D373-4A98-B62D-D89088992B9E}"/>
                  </a:ext>
                </a:extLst>
              </p:cNvPr>
              <p:cNvGrpSpPr/>
              <p:nvPr/>
            </p:nvGrpSpPr>
            <p:grpSpPr>
              <a:xfrm>
                <a:off x="3676835" y="587359"/>
                <a:ext cx="8390293" cy="1934041"/>
                <a:chOff x="3676835" y="3787858"/>
                <a:chExt cx="8390293" cy="1934041"/>
              </a:xfrm>
            </p:grpSpPr>
            <p:grpSp>
              <p:nvGrpSpPr>
                <p:cNvPr id="35" name="Group 34">
                  <a:extLst>
                    <a:ext uri="{FF2B5EF4-FFF2-40B4-BE49-F238E27FC236}">
                      <a16:creationId xmlns:a16="http://schemas.microsoft.com/office/drawing/2014/main" id="{E8AE08AE-5125-1D42-B495-BC2B45DB4F41}"/>
                    </a:ext>
                  </a:extLst>
                </p:cNvPr>
                <p:cNvGrpSpPr/>
                <p:nvPr/>
              </p:nvGrpSpPr>
              <p:grpSpPr>
                <a:xfrm>
                  <a:off x="3676835" y="3787858"/>
                  <a:ext cx="8390293" cy="1934041"/>
                  <a:chOff x="3676835" y="3787858"/>
                  <a:chExt cx="8390293" cy="1934041"/>
                </a:xfrm>
              </p:grpSpPr>
              <p:pic>
                <p:nvPicPr>
                  <p:cNvPr id="37" name="Picture 36">
                    <a:extLst>
                      <a:ext uri="{FF2B5EF4-FFF2-40B4-BE49-F238E27FC236}">
                        <a16:creationId xmlns:a16="http://schemas.microsoft.com/office/drawing/2014/main" id="{224ADF53-FECC-7D6E-6E9D-BBC5A8B45F1A}"/>
                      </a:ext>
                    </a:extLst>
                  </p:cNvPr>
                  <p:cNvPicPr>
                    <a:picLocks noChangeAspect="1"/>
                  </p:cNvPicPr>
                  <p:nvPr/>
                </p:nvPicPr>
                <p:blipFill>
                  <a:blip r:embed="rId3"/>
                  <a:stretch>
                    <a:fillRect/>
                  </a:stretch>
                </p:blipFill>
                <p:spPr>
                  <a:xfrm>
                    <a:off x="5359921" y="3787858"/>
                    <a:ext cx="4902201" cy="1934041"/>
                  </a:xfrm>
                  <a:prstGeom prst="rect">
                    <a:avLst/>
                  </a:prstGeom>
                </p:spPr>
              </p:pic>
              <p:sp>
                <p:nvSpPr>
                  <p:cNvPr id="38" name="Arc 37">
                    <a:extLst>
                      <a:ext uri="{FF2B5EF4-FFF2-40B4-BE49-F238E27FC236}">
                        <a16:creationId xmlns:a16="http://schemas.microsoft.com/office/drawing/2014/main" id="{13590835-FCF1-E1D0-369A-66B7C0D8C546}"/>
                      </a:ext>
                    </a:extLst>
                  </p:cNvPr>
                  <p:cNvSpPr/>
                  <p:nvPr/>
                </p:nvSpPr>
                <p:spPr>
                  <a:xfrm>
                    <a:off x="3676835" y="4481591"/>
                    <a:ext cx="2302866" cy="755207"/>
                  </a:xfrm>
                  <a:prstGeom prst="arc">
                    <a:avLst/>
                  </a:prstGeom>
                  <a:ln w="76200">
                    <a:solidFill>
                      <a:srgbClr val="FFC000"/>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dirty="0"/>
                  </a:p>
                </p:txBody>
              </p:sp>
              <p:sp>
                <p:nvSpPr>
                  <p:cNvPr id="39" name="Arc 38">
                    <a:extLst>
                      <a:ext uri="{FF2B5EF4-FFF2-40B4-BE49-F238E27FC236}">
                        <a16:creationId xmlns:a16="http://schemas.microsoft.com/office/drawing/2014/main" id="{6D745BC7-B5E0-69AE-60D3-EBEE4746867D}"/>
                      </a:ext>
                    </a:extLst>
                  </p:cNvPr>
                  <p:cNvSpPr/>
                  <p:nvPr/>
                </p:nvSpPr>
                <p:spPr>
                  <a:xfrm flipH="1">
                    <a:off x="9764262" y="4377276"/>
                    <a:ext cx="2302866" cy="755207"/>
                  </a:xfrm>
                  <a:prstGeom prst="arc">
                    <a:avLst/>
                  </a:prstGeom>
                  <a:ln w="76200">
                    <a:solidFill>
                      <a:schemeClr val="tx2">
                        <a:lumMod val="25000"/>
                        <a:lumOff val="75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40" name="TextBox 39">
                    <a:extLst>
                      <a:ext uri="{FF2B5EF4-FFF2-40B4-BE49-F238E27FC236}">
                        <a16:creationId xmlns:a16="http://schemas.microsoft.com/office/drawing/2014/main" id="{60268444-35CF-0661-863D-1CB40A5F0B0F}"/>
                      </a:ext>
                    </a:extLst>
                  </p:cNvPr>
                  <p:cNvSpPr txBox="1"/>
                  <p:nvPr/>
                </p:nvSpPr>
                <p:spPr>
                  <a:xfrm>
                    <a:off x="3707696" y="4316116"/>
                    <a:ext cx="1476553" cy="338554"/>
                  </a:xfrm>
                  <a:prstGeom prst="rect">
                    <a:avLst/>
                  </a:prstGeom>
                  <a:noFill/>
                </p:spPr>
                <p:txBody>
                  <a:bodyPr wrap="square" rtlCol="0">
                    <a:spAutoFit/>
                  </a:bodyPr>
                  <a:lstStyle/>
                  <a:p>
                    <a:pPr algn="ctr"/>
                    <a:r>
                      <a:rPr lang="en-US" sz="1600" noProof="0" dirty="0"/>
                      <a:t>Inlet A</a:t>
                    </a:r>
                  </a:p>
                </p:txBody>
              </p:sp>
            </p:grpSp>
            <p:sp>
              <p:nvSpPr>
                <p:cNvPr id="36" name="TextBox 35">
                  <a:extLst>
                    <a:ext uri="{FF2B5EF4-FFF2-40B4-BE49-F238E27FC236}">
                      <a16:creationId xmlns:a16="http://schemas.microsoft.com/office/drawing/2014/main" id="{696FE3B8-69A6-279F-13E8-5030D4495F16}"/>
                    </a:ext>
                  </a:extLst>
                </p:cNvPr>
                <p:cNvSpPr txBox="1"/>
                <p:nvPr/>
              </p:nvSpPr>
              <p:spPr>
                <a:xfrm>
                  <a:off x="10583367" y="4165556"/>
                  <a:ext cx="1476553" cy="523220"/>
                </a:xfrm>
                <a:prstGeom prst="rect">
                  <a:avLst/>
                </a:prstGeom>
                <a:noFill/>
              </p:spPr>
              <p:txBody>
                <a:bodyPr wrap="square" rtlCol="0">
                  <a:spAutoFit/>
                </a:bodyPr>
                <a:lstStyle/>
                <a:p>
                  <a:pPr algn="ctr"/>
                  <a:r>
                    <a:rPr lang="en-US" sz="1600" dirty="0"/>
                    <a:t>Out</a:t>
                  </a:r>
                  <a:r>
                    <a:rPr lang="en-US" sz="1600" noProof="0" dirty="0"/>
                    <a:t>let</a:t>
                  </a:r>
                </a:p>
                <a:p>
                  <a:pPr algn="ctr"/>
                  <a:r>
                    <a:rPr lang="en-US" sz="1200" dirty="0"/>
                    <a:t>(mixed)</a:t>
                  </a:r>
                  <a:endParaRPr lang="en-US" sz="1200" noProof="0" dirty="0"/>
                </a:p>
              </p:txBody>
            </p:sp>
          </p:grpSp>
          <p:sp>
            <p:nvSpPr>
              <p:cNvPr id="41" name="Arc 40">
                <a:extLst>
                  <a:ext uri="{FF2B5EF4-FFF2-40B4-BE49-F238E27FC236}">
                    <a16:creationId xmlns:a16="http://schemas.microsoft.com/office/drawing/2014/main" id="{EFB52472-D88E-3BBA-9B9D-4FF5D710CDC1}"/>
                  </a:ext>
                </a:extLst>
              </p:cNvPr>
              <p:cNvSpPr/>
              <p:nvPr/>
            </p:nvSpPr>
            <p:spPr>
              <a:xfrm>
                <a:off x="2865120" y="1112864"/>
                <a:ext cx="4328450" cy="755207"/>
              </a:xfrm>
              <a:prstGeom prst="arc">
                <a:avLst/>
              </a:prstGeom>
              <a:ln w="76200">
                <a:solidFill>
                  <a:schemeClr val="accent1">
                    <a:lumMod val="60000"/>
                    <a:lumOff val="40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a:p>
            </p:txBody>
          </p:sp>
          <p:sp>
            <p:nvSpPr>
              <p:cNvPr id="42" name="Arc 41">
                <a:extLst>
                  <a:ext uri="{FF2B5EF4-FFF2-40B4-BE49-F238E27FC236}">
                    <a16:creationId xmlns:a16="http://schemas.microsoft.com/office/drawing/2014/main" id="{FE9C2FA7-EE8E-6724-7926-4D1A31487BED}"/>
                  </a:ext>
                </a:extLst>
              </p:cNvPr>
              <p:cNvSpPr/>
              <p:nvPr/>
            </p:nvSpPr>
            <p:spPr>
              <a:xfrm flipV="1">
                <a:off x="2865120" y="1365859"/>
                <a:ext cx="4328450" cy="755207"/>
              </a:xfrm>
              <a:prstGeom prst="arc">
                <a:avLst/>
              </a:prstGeom>
              <a:ln w="76200">
                <a:solidFill>
                  <a:schemeClr val="accent1">
                    <a:lumMod val="60000"/>
                    <a:lumOff val="40000"/>
                  </a:schemeClr>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s-CL" dirty="0"/>
              </a:p>
            </p:txBody>
          </p:sp>
        </p:grpSp>
        <p:sp>
          <p:nvSpPr>
            <p:cNvPr id="59" name="TextBox 58">
              <a:extLst>
                <a:ext uri="{FF2B5EF4-FFF2-40B4-BE49-F238E27FC236}">
                  <a16:creationId xmlns:a16="http://schemas.microsoft.com/office/drawing/2014/main" id="{F9706EA9-50C9-33AA-395E-07035FC48D52}"/>
                </a:ext>
              </a:extLst>
            </p:cNvPr>
            <p:cNvSpPr txBox="1"/>
            <p:nvPr/>
          </p:nvSpPr>
          <p:spPr>
            <a:xfrm>
              <a:off x="5136445" y="746689"/>
              <a:ext cx="1476553" cy="338554"/>
            </a:xfrm>
            <a:prstGeom prst="rect">
              <a:avLst/>
            </a:prstGeom>
            <a:noFill/>
          </p:spPr>
          <p:txBody>
            <a:bodyPr wrap="square" rtlCol="0">
              <a:spAutoFit/>
            </a:bodyPr>
            <a:lstStyle/>
            <a:p>
              <a:pPr algn="ctr"/>
              <a:r>
                <a:rPr lang="en-US" sz="1600" noProof="0" dirty="0"/>
                <a:t>Inlet B</a:t>
              </a:r>
            </a:p>
          </p:txBody>
        </p:sp>
        <p:sp>
          <p:nvSpPr>
            <p:cNvPr id="60" name="TextBox 59">
              <a:extLst>
                <a:ext uri="{FF2B5EF4-FFF2-40B4-BE49-F238E27FC236}">
                  <a16:creationId xmlns:a16="http://schemas.microsoft.com/office/drawing/2014/main" id="{800D90FA-531D-0B2E-2AE9-644E766BB4C0}"/>
                </a:ext>
              </a:extLst>
            </p:cNvPr>
            <p:cNvSpPr txBox="1"/>
            <p:nvPr/>
          </p:nvSpPr>
          <p:spPr>
            <a:xfrm>
              <a:off x="5027832" y="2155657"/>
              <a:ext cx="1476553" cy="338554"/>
            </a:xfrm>
            <a:prstGeom prst="rect">
              <a:avLst/>
            </a:prstGeom>
            <a:noFill/>
          </p:spPr>
          <p:txBody>
            <a:bodyPr wrap="square" rtlCol="0">
              <a:spAutoFit/>
            </a:bodyPr>
            <a:lstStyle/>
            <a:p>
              <a:pPr algn="ctr"/>
              <a:r>
                <a:rPr lang="en-US" sz="1600" noProof="0" dirty="0"/>
                <a:t>Inlet C</a:t>
              </a:r>
            </a:p>
          </p:txBody>
        </p:sp>
      </p:grpSp>
      <p:sp>
        <p:nvSpPr>
          <p:cNvPr id="61" name="TextBox 60">
            <a:extLst>
              <a:ext uri="{FF2B5EF4-FFF2-40B4-BE49-F238E27FC236}">
                <a16:creationId xmlns:a16="http://schemas.microsoft.com/office/drawing/2014/main" id="{BF463920-CE3D-EE64-4250-B8B67A68AA44}"/>
              </a:ext>
            </a:extLst>
          </p:cNvPr>
          <p:cNvSpPr txBox="1"/>
          <p:nvPr/>
        </p:nvSpPr>
        <p:spPr>
          <a:xfrm>
            <a:off x="549950" y="3592955"/>
            <a:ext cx="3495168" cy="2585323"/>
          </a:xfrm>
          <a:prstGeom prst="rect">
            <a:avLst/>
          </a:prstGeom>
          <a:noFill/>
        </p:spPr>
        <p:txBody>
          <a:bodyPr wrap="square" rtlCol="0">
            <a:spAutoFit/>
          </a:bodyPr>
          <a:lstStyle/>
          <a:p>
            <a:pPr algn="just"/>
            <a:r>
              <a:rPr lang="en-US" noProof="0" dirty="0">
                <a:solidFill>
                  <a:schemeClr val="bg2">
                    <a:lumMod val="25000"/>
                  </a:schemeClr>
                </a:solidFill>
              </a:rPr>
              <a:t>Design D: These punches </a:t>
            </a:r>
            <a:r>
              <a:rPr lang="en-US" dirty="0">
                <a:solidFill>
                  <a:schemeClr val="bg2">
                    <a:lumMod val="25000"/>
                  </a:schemeClr>
                </a:solidFill>
              </a:rPr>
              <a:t>may be used to generate a thin matrix of a hydrogel of interest, adjusting the thickness by controlling the flow of the oil phase. Posteriorly, the oil can be removed and replaced with culture medium with cells, which will attach to the matrix for culture</a:t>
            </a:r>
            <a:endParaRPr lang="en-US" noProof="0" dirty="0">
              <a:solidFill>
                <a:schemeClr val="bg2">
                  <a:lumMod val="25000"/>
                </a:schemeClr>
              </a:solidFill>
            </a:endParaRPr>
          </a:p>
        </p:txBody>
      </p:sp>
      <p:sp>
        <p:nvSpPr>
          <p:cNvPr id="62" name="TextBox 61">
            <a:extLst>
              <a:ext uri="{FF2B5EF4-FFF2-40B4-BE49-F238E27FC236}">
                <a16:creationId xmlns:a16="http://schemas.microsoft.com/office/drawing/2014/main" id="{E45B5BF5-ACEC-7A3B-41DE-F5E0300DFFC9}"/>
              </a:ext>
            </a:extLst>
          </p:cNvPr>
          <p:cNvSpPr txBox="1"/>
          <p:nvPr/>
        </p:nvSpPr>
        <p:spPr>
          <a:xfrm>
            <a:off x="448006" y="650477"/>
            <a:ext cx="3699056" cy="2308324"/>
          </a:xfrm>
          <a:prstGeom prst="rect">
            <a:avLst/>
          </a:prstGeom>
          <a:noFill/>
        </p:spPr>
        <p:txBody>
          <a:bodyPr wrap="square" rtlCol="0">
            <a:spAutoFit/>
          </a:bodyPr>
          <a:lstStyle/>
          <a:p>
            <a:pPr algn="just"/>
            <a:r>
              <a:rPr lang="en-US" noProof="0" dirty="0">
                <a:solidFill>
                  <a:schemeClr val="bg2">
                    <a:lumMod val="25000"/>
                  </a:schemeClr>
                </a:solidFill>
              </a:rPr>
              <a:t>Design C: These punches </a:t>
            </a:r>
            <a:r>
              <a:rPr lang="en-US" dirty="0">
                <a:solidFill>
                  <a:schemeClr val="bg2">
                    <a:lumMod val="25000"/>
                  </a:schemeClr>
                </a:solidFill>
              </a:rPr>
              <a:t>may serve as a simple gradient channel, allowing for the mixing of two or three (when not using A for cells) </a:t>
            </a:r>
            <a:r>
              <a:rPr lang="en-US" noProof="0" dirty="0">
                <a:solidFill>
                  <a:schemeClr val="bg2">
                    <a:lumMod val="25000"/>
                  </a:schemeClr>
                </a:solidFill>
              </a:rPr>
              <a:t>solutions. The generated concentrations can be adjusted with the flow, and recovered in the outlet </a:t>
            </a:r>
          </a:p>
        </p:txBody>
      </p:sp>
      <p:sp>
        <p:nvSpPr>
          <p:cNvPr id="2" name="TextBox 1">
            <a:extLst>
              <a:ext uri="{FF2B5EF4-FFF2-40B4-BE49-F238E27FC236}">
                <a16:creationId xmlns:a16="http://schemas.microsoft.com/office/drawing/2014/main" id="{1349A8EE-6F7E-6AB7-049B-595AF4C90F33}"/>
              </a:ext>
            </a:extLst>
          </p:cNvPr>
          <p:cNvSpPr txBox="1"/>
          <p:nvPr/>
        </p:nvSpPr>
        <p:spPr>
          <a:xfrm>
            <a:off x="164527" y="2886309"/>
            <a:ext cx="4266014" cy="646331"/>
          </a:xfrm>
          <a:prstGeom prst="rect">
            <a:avLst/>
          </a:prstGeom>
          <a:noFill/>
        </p:spPr>
        <p:txBody>
          <a:bodyPr wrap="square" rtlCol="0">
            <a:spAutoFit/>
          </a:bodyPr>
          <a:lstStyle/>
          <a:p>
            <a:pPr algn="ctr"/>
            <a:r>
              <a:rPr lang="en-US" b="1" noProof="0" dirty="0"/>
              <a:t>Cristopher </a:t>
            </a:r>
            <a:r>
              <a:rPr lang="en-US" b="1" noProof="0" dirty="0" err="1"/>
              <a:t>Villablanca</a:t>
            </a:r>
            <a:r>
              <a:rPr lang="en-US" b="1" noProof="0" dirty="0"/>
              <a:t> </a:t>
            </a:r>
            <a:r>
              <a:rPr lang="en-US" noProof="0" dirty="0"/>
              <a:t>(Cells &amp; Tissues)</a:t>
            </a:r>
            <a:endParaRPr lang="en-US" b="1" noProof="0" dirty="0"/>
          </a:p>
          <a:p>
            <a:pPr algn="ctr"/>
            <a:r>
              <a:rPr lang="en-US" dirty="0"/>
              <a:t>W</a:t>
            </a:r>
            <a:r>
              <a:rPr lang="en-US" noProof="0" dirty="0"/>
              <a:t>ill receive it</a:t>
            </a:r>
          </a:p>
        </p:txBody>
      </p:sp>
      <p:sp>
        <p:nvSpPr>
          <p:cNvPr id="3" name="TextBox 2">
            <a:extLst>
              <a:ext uri="{FF2B5EF4-FFF2-40B4-BE49-F238E27FC236}">
                <a16:creationId xmlns:a16="http://schemas.microsoft.com/office/drawing/2014/main" id="{6FBABC07-5B84-FA37-9F5F-399F2F211946}"/>
              </a:ext>
            </a:extLst>
          </p:cNvPr>
          <p:cNvSpPr txBox="1"/>
          <p:nvPr/>
        </p:nvSpPr>
        <p:spPr>
          <a:xfrm>
            <a:off x="285527" y="6101269"/>
            <a:ext cx="4024015" cy="646331"/>
          </a:xfrm>
          <a:prstGeom prst="rect">
            <a:avLst/>
          </a:prstGeom>
          <a:noFill/>
        </p:spPr>
        <p:txBody>
          <a:bodyPr wrap="square" rtlCol="0">
            <a:spAutoFit/>
          </a:bodyPr>
          <a:lstStyle/>
          <a:p>
            <a:pPr algn="ctr"/>
            <a:r>
              <a:rPr lang="en-US" b="1" dirty="0" err="1"/>
              <a:t>Glauben</a:t>
            </a:r>
            <a:r>
              <a:rPr lang="en-US" b="1" dirty="0"/>
              <a:t> Landskron</a:t>
            </a:r>
            <a:r>
              <a:rPr lang="en-US" b="1" noProof="0" dirty="0"/>
              <a:t> </a:t>
            </a:r>
            <a:r>
              <a:rPr lang="en-US" noProof="0" dirty="0"/>
              <a:t>(Cells &amp; Tissues)</a:t>
            </a:r>
          </a:p>
          <a:p>
            <a:pPr algn="ctr"/>
            <a:r>
              <a:rPr lang="en-US" dirty="0"/>
              <a:t>W</a:t>
            </a:r>
            <a:r>
              <a:rPr lang="en-US" noProof="0" dirty="0"/>
              <a:t>ill receive it</a:t>
            </a:r>
          </a:p>
        </p:txBody>
      </p:sp>
    </p:spTree>
    <p:extLst>
      <p:ext uri="{BB962C8B-B14F-4D97-AF65-F5344CB8AC3E}">
        <p14:creationId xmlns:p14="http://schemas.microsoft.com/office/powerpoint/2010/main" val="4083975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A247402-3D2E-3F2A-E4CD-6137E16063B6}"/>
              </a:ext>
            </a:extLst>
          </p:cNvPr>
          <p:cNvSpPr>
            <a:spLocks noGrp="1"/>
          </p:cNvSpPr>
          <p:nvPr>
            <p:ph type="title"/>
          </p:nvPr>
        </p:nvSpPr>
        <p:spPr>
          <a:xfrm>
            <a:off x="216188" y="255086"/>
            <a:ext cx="5760001" cy="738663"/>
          </a:xfrm>
        </p:spPr>
        <p:txBody>
          <a:bodyPr>
            <a:noAutofit/>
          </a:bodyPr>
          <a:lstStyle/>
          <a:p>
            <a:r>
              <a:rPr lang="en-US" noProof="0" dirty="0"/>
              <a:t>Flow control </a:t>
            </a:r>
            <a:r>
              <a:rPr lang="en-US" sz="2800" noProof="0" dirty="0"/>
              <a:t>- without a pump</a:t>
            </a:r>
          </a:p>
        </p:txBody>
      </p:sp>
      <p:pic>
        <p:nvPicPr>
          <p:cNvPr id="6" name="Picture 5" descr="A close-up of a device&#10;&#10;AI-generated content may be incorrect.">
            <a:extLst>
              <a:ext uri="{FF2B5EF4-FFF2-40B4-BE49-F238E27FC236}">
                <a16:creationId xmlns:a16="http://schemas.microsoft.com/office/drawing/2014/main" id="{74288F0D-28E1-9544-549C-2FD54E723E29}"/>
              </a:ext>
            </a:extLst>
          </p:cNvPr>
          <p:cNvPicPr>
            <a:picLocks noChangeAspect="1"/>
          </p:cNvPicPr>
          <p:nvPr/>
        </p:nvPicPr>
        <p:blipFill>
          <a:blip r:embed="rId2">
            <a:extLst>
              <a:ext uri="{28A0092B-C50C-407E-A947-70E740481C1C}">
                <a14:useLocalDpi xmlns:a14="http://schemas.microsoft.com/office/drawing/2010/main" val="0"/>
              </a:ext>
            </a:extLst>
          </a:blip>
          <a:srcRect l="12280" t="4391" r="15852" b="13950"/>
          <a:stretch>
            <a:fillRect/>
          </a:stretch>
        </p:blipFill>
        <p:spPr>
          <a:xfrm>
            <a:off x="6096000" y="3675567"/>
            <a:ext cx="5760000" cy="3018716"/>
          </a:xfrm>
          <a:prstGeom prst="rect">
            <a:avLst/>
          </a:prstGeom>
        </p:spPr>
      </p:pic>
      <p:pic>
        <p:nvPicPr>
          <p:cNvPr id="8" name="Picture 7" descr="A close-up of a device&#10;&#10;AI-generated content may be incorrect.">
            <a:extLst>
              <a:ext uri="{FF2B5EF4-FFF2-40B4-BE49-F238E27FC236}">
                <a16:creationId xmlns:a16="http://schemas.microsoft.com/office/drawing/2014/main" id="{46A35C3F-D0E0-2D7E-D6AE-3AC5A64BE26B}"/>
              </a:ext>
            </a:extLst>
          </p:cNvPr>
          <p:cNvPicPr>
            <a:picLocks noChangeAspect="1"/>
          </p:cNvPicPr>
          <p:nvPr/>
        </p:nvPicPr>
        <p:blipFill>
          <a:blip r:embed="rId3">
            <a:extLst>
              <a:ext uri="{28A0092B-C50C-407E-A947-70E740481C1C}">
                <a14:useLocalDpi xmlns:a14="http://schemas.microsoft.com/office/drawing/2010/main" val="0"/>
              </a:ext>
            </a:extLst>
          </a:blip>
          <a:srcRect l="9149" t="1353" r="19313" b="22527"/>
          <a:stretch>
            <a:fillRect/>
          </a:stretch>
        </p:blipFill>
        <p:spPr>
          <a:xfrm>
            <a:off x="6096000" y="602087"/>
            <a:ext cx="5760000" cy="2826913"/>
          </a:xfrm>
          <a:prstGeom prst="rect">
            <a:avLst/>
          </a:prstGeom>
        </p:spPr>
      </p:pic>
      <p:sp>
        <p:nvSpPr>
          <p:cNvPr id="9" name="TextBox 8">
            <a:extLst>
              <a:ext uri="{FF2B5EF4-FFF2-40B4-BE49-F238E27FC236}">
                <a16:creationId xmlns:a16="http://schemas.microsoft.com/office/drawing/2014/main" id="{EF002F75-31A7-E828-564C-28CE484AC309}"/>
              </a:ext>
            </a:extLst>
          </p:cNvPr>
          <p:cNvSpPr txBox="1"/>
          <p:nvPr/>
        </p:nvSpPr>
        <p:spPr>
          <a:xfrm>
            <a:off x="438939" y="1124772"/>
            <a:ext cx="5314499" cy="1477328"/>
          </a:xfrm>
          <a:prstGeom prst="rect">
            <a:avLst/>
          </a:prstGeom>
          <a:noFill/>
        </p:spPr>
        <p:txBody>
          <a:bodyPr wrap="square" rtlCol="0">
            <a:spAutoFit/>
          </a:bodyPr>
          <a:lstStyle/>
          <a:p>
            <a:pPr algn="just"/>
            <a:r>
              <a:rPr lang="en-US" dirty="0">
                <a:solidFill>
                  <a:schemeClr val="bg2">
                    <a:lumMod val="50000"/>
                  </a:schemeClr>
                </a:solidFill>
              </a:rPr>
              <a:t>This setup could enable the culture of cells inside the chips for extended periods of time, without the need for a syringe pump. </a:t>
            </a:r>
          </a:p>
          <a:p>
            <a:pPr algn="just"/>
            <a:r>
              <a:rPr lang="en-US" dirty="0">
                <a:solidFill>
                  <a:schemeClr val="bg2">
                    <a:lumMod val="50000"/>
                  </a:schemeClr>
                </a:solidFill>
              </a:rPr>
              <a:t>However, it has been challenging to maintain a steady and consistent flow over time. </a:t>
            </a:r>
            <a:endParaRPr lang="en-US" noProof="0" dirty="0">
              <a:solidFill>
                <a:schemeClr val="bg2">
                  <a:lumMod val="50000"/>
                </a:schemeClr>
              </a:solidFill>
            </a:endParaRPr>
          </a:p>
        </p:txBody>
      </p:sp>
      <p:sp>
        <p:nvSpPr>
          <p:cNvPr id="10" name="TextBox 9">
            <a:extLst>
              <a:ext uri="{FF2B5EF4-FFF2-40B4-BE49-F238E27FC236}">
                <a16:creationId xmlns:a16="http://schemas.microsoft.com/office/drawing/2014/main" id="{CDC040CD-9789-DA07-2FA4-ECFF2B86E54F}"/>
              </a:ext>
            </a:extLst>
          </p:cNvPr>
          <p:cNvSpPr txBox="1"/>
          <p:nvPr/>
        </p:nvSpPr>
        <p:spPr>
          <a:xfrm>
            <a:off x="299402" y="2798404"/>
            <a:ext cx="5593572" cy="923330"/>
          </a:xfrm>
          <a:prstGeom prst="rect">
            <a:avLst/>
          </a:prstGeom>
          <a:noFill/>
        </p:spPr>
        <p:txBody>
          <a:bodyPr wrap="square" rtlCol="0">
            <a:spAutoFit/>
          </a:bodyPr>
          <a:lstStyle/>
          <a:p>
            <a:pPr algn="just"/>
            <a:r>
              <a:rPr lang="en-US" noProof="0" dirty="0"/>
              <a:t>For these, we have tested different variables: </a:t>
            </a:r>
          </a:p>
          <a:p>
            <a:pPr marL="285750" indent="-285750" algn="just">
              <a:buFont typeface="Arial" panose="020B0604020202020204" pitchFamily="34" charset="0"/>
              <a:buChar char="•"/>
            </a:pPr>
            <a:r>
              <a:rPr lang="en-US" noProof="0" dirty="0"/>
              <a:t>Height </a:t>
            </a:r>
          </a:p>
          <a:p>
            <a:pPr marL="285750" indent="-285750" algn="just">
              <a:buFont typeface="Arial" panose="020B0604020202020204" pitchFamily="34" charset="0"/>
              <a:buChar char="•"/>
            </a:pPr>
            <a:r>
              <a:rPr lang="en-US" dirty="0"/>
              <a:t>Inside diameter of tubing (0.25, 0.7, and 1 mm)</a:t>
            </a:r>
          </a:p>
        </p:txBody>
      </p:sp>
      <p:graphicFrame>
        <p:nvGraphicFramePr>
          <p:cNvPr id="11" name="Table 10">
            <a:extLst>
              <a:ext uri="{FF2B5EF4-FFF2-40B4-BE49-F238E27FC236}">
                <a16:creationId xmlns:a16="http://schemas.microsoft.com/office/drawing/2014/main" id="{5DAE9958-9AFF-6099-1F3A-66AE582B3065}"/>
              </a:ext>
            </a:extLst>
          </p:cNvPr>
          <p:cNvGraphicFramePr>
            <a:graphicFrameLocks noGrp="1"/>
          </p:cNvGraphicFramePr>
          <p:nvPr>
            <p:extLst>
              <p:ext uri="{D42A27DB-BD31-4B8C-83A1-F6EECF244321}">
                <p14:modId xmlns:p14="http://schemas.microsoft.com/office/powerpoint/2010/main" val="1197852832"/>
              </p:ext>
            </p:extLst>
          </p:nvPr>
        </p:nvGraphicFramePr>
        <p:xfrm>
          <a:off x="1216949" y="3870355"/>
          <a:ext cx="3758479" cy="1791753"/>
        </p:xfrm>
        <a:graphic>
          <a:graphicData uri="http://schemas.openxmlformats.org/drawingml/2006/table">
            <a:tbl>
              <a:tblPr firstRow="1" bandRow="1">
                <a:tableStyleId>{3B4B98B0-60AC-42C2-AFA5-B58CD77FA1E5}</a:tableStyleId>
              </a:tblPr>
              <a:tblGrid>
                <a:gridCol w="2366559">
                  <a:extLst>
                    <a:ext uri="{9D8B030D-6E8A-4147-A177-3AD203B41FA5}">
                      <a16:colId xmlns:a16="http://schemas.microsoft.com/office/drawing/2014/main" val="3695925787"/>
                    </a:ext>
                  </a:extLst>
                </a:gridCol>
                <a:gridCol w="1391920">
                  <a:extLst>
                    <a:ext uri="{9D8B030D-6E8A-4147-A177-3AD203B41FA5}">
                      <a16:colId xmlns:a16="http://schemas.microsoft.com/office/drawing/2014/main" val="4158949398"/>
                    </a:ext>
                  </a:extLst>
                </a:gridCol>
              </a:tblGrid>
              <a:tr h="404211">
                <a:tc>
                  <a:txBody>
                    <a:bodyPr/>
                    <a:lstStyle/>
                    <a:p>
                      <a:pPr algn="ctr"/>
                      <a:r>
                        <a:rPr lang="en-US" sz="1600" noProof="0" dirty="0"/>
                        <a:t>Tubing (inside diameter)</a:t>
                      </a:r>
                    </a:p>
                  </a:txBody>
                  <a:tcPr/>
                </a:tc>
                <a:tc>
                  <a:txBody>
                    <a:bodyPr/>
                    <a:lstStyle/>
                    <a:p>
                      <a:pPr algn="ctr"/>
                      <a:r>
                        <a:rPr lang="en-US" sz="1600" noProof="0" dirty="0"/>
                        <a:t>Slower flows reached</a:t>
                      </a:r>
                    </a:p>
                  </a:txBody>
                  <a:tcPr/>
                </a:tc>
                <a:extLst>
                  <a:ext uri="{0D108BD9-81ED-4DB2-BD59-A6C34878D82A}">
                    <a16:rowId xmlns:a16="http://schemas.microsoft.com/office/drawing/2014/main" val="2466931683"/>
                  </a:ext>
                </a:extLst>
              </a:tr>
              <a:tr h="404211">
                <a:tc>
                  <a:txBody>
                    <a:bodyPr/>
                    <a:lstStyle/>
                    <a:p>
                      <a:pPr algn="ctr"/>
                      <a:r>
                        <a:rPr lang="en-US" sz="1600" noProof="0" dirty="0"/>
                        <a:t>1 mm</a:t>
                      </a:r>
                    </a:p>
                  </a:txBody>
                  <a:tcPr/>
                </a:tc>
                <a:tc>
                  <a:txBody>
                    <a:bodyPr/>
                    <a:lstStyle/>
                    <a:p>
                      <a:pPr algn="ctr"/>
                      <a:r>
                        <a:rPr lang="en-US" sz="1600" noProof="0" dirty="0"/>
                        <a:t>~ 6 ml/h</a:t>
                      </a:r>
                    </a:p>
                  </a:txBody>
                  <a:tcPr/>
                </a:tc>
                <a:extLst>
                  <a:ext uri="{0D108BD9-81ED-4DB2-BD59-A6C34878D82A}">
                    <a16:rowId xmlns:a16="http://schemas.microsoft.com/office/drawing/2014/main" val="1607404208"/>
                  </a:ext>
                </a:extLst>
              </a:tr>
              <a:tr h="404211">
                <a:tc>
                  <a:txBody>
                    <a:bodyPr/>
                    <a:lstStyle/>
                    <a:p>
                      <a:pPr algn="ctr"/>
                      <a:r>
                        <a:rPr lang="en-US" sz="1600" noProof="0" dirty="0"/>
                        <a:t>0.7 mm</a:t>
                      </a:r>
                    </a:p>
                  </a:txBody>
                  <a:tcPr/>
                </a:tc>
                <a:tc>
                  <a:txBody>
                    <a:bodyPr/>
                    <a:lstStyle/>
                    <a:p>
                      <a:pPr algn="ctr"/>
                      <a:r>
                        <a:rPr lang="en-US" sz="1600" noProof="0" dirty="0"/>
                        <a:t>~ 1 ml/h</a:t>
                      </a:r>
                    </a:p>
                  </a:txBody>
                  <a:tcPr/>
                </a:tc>
                <a:extLst>
                  <a:ext uri="{0D108BD9-81ED-4DB2-BD59-A6C34878D82A}">
                    <a16:rowId xmlns:a16="http://schemas.microsoft.com/office/drawing/2014/main" val="2787741185"/>
                  </a:ext>
                </a:extLst>
              </a:tr>
              <a:tr h="404211">
                <a:tc>
                  <a:txBody>
                    <a:bodyPr/>
                    <a:lstStyle/>
                    <a:p>
                      <a:pPr algn="ctr"/>
                      <a:r>
                        <a:rPr lang="en-US" sz="1600" noProof="0" dirty="0"/>
                        <a:t>0.25 mm</a:t>
                      </a:r>
                    </a:p>
                  </a:txBody>
                  <a:tcPr/>
                </a:tc>
                <a:tc>
                  <a:txBody>
                    <a:bodyPr/>
                    <a:lstStyle/>
                    <a:p>
                      <a:pPr algn="ctr"/>
                      <a:r>
                        <a:rPr lang="en-US" sz="1600" noProof="0" dirty="0"/>
                        <a:t>~ 0.4 ml/h</a:t>
                      </a:r>
                    </a:p>
                  </a:txBody>
                  <a:tcPr/>
                </a:tc>
                <a:extLst>
                  <a:ext uri="{0D108BD9-81ED-4DB2-BD59-A6C34878D82A}">
                    <a16:rowId xmlns:a16="http://schemas.microsoft.com/office/drawing/2014/main" val="3991986187"/>
                  </a:ext>
                </a:extLst>
              </a:tr>
            </a:tbl>
          </a:graphicData>
        </a:graphic>
      </p:graphicFrame>
      <p:sp>
        <p:nvSpPr>
          <p:cNvPr id="12" name="TextBox 11">
            <a:extLst>
              <a:ext uri="{FF2B5EF4-FFF2-40B4-BE49-F238E27FC236}">
                <a16:creationId xmlns:a16="http://schemas.microsoft.com/office/drawing/2014/main" id="{5729AC02-13C0-6BA1-1DD3-6CF57B30626C}"/>
              </a:ext>
            </a:extLst>
          </p:cNvPr>
          <p:cNvSpPr txBox="1"/>
          <p:nvPr/>
        </p:nvSpPr>
        <p:spPr>
          <a:xfrm>
            <a:off x="438939" y="5952969"/>
            <a:ext cx="5314499" cy="738664"/>
          </a:xfrm>
          <a:prstGeom prst="rect">
            <a:avLst/>
          </a:prstGeom>
          <a:noFill/>
        </p:spPr>
        <p:txBody>
          <a:bodyPr wrap="square" rtlCol="0">
            <a:spAutoFit/>
          </a:bodyPr>
          <a:lstStyle/>
          <a:p>
            <a:pPr algn="just"/>
            <a:r>
              <a:rPr lang="en-US" sz="1400" noProof="0" dirty="0">
                <a:solidFill>
                  <a:schemeClr val="bg2">
                    <a:lumMod val="50000"/>
                  </a:schemeClr>
                </a:solidFill>
              </a:rPr>
              <a:t>I’m still testing different parameters, because some conditions allow a slow flow, but it’s not constant, and it stops when the inlet and outlet have the same volume</a:t>
            </a:r>
          </a:p>
        </p:txBody>
      </p:sp>
    </p:spTree>
    <p:extLst>
      <p:ext uri="{BB962C8B-B14F-4D97-AF65-F5344CB8AC3E}">
        <p14:creationId xmlns:p14="http://schemas.microsoft.com/office/powerpoint/2010/main" val="1200500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F50A149-313D-80D7-C476-C584AF20A4C7}"/>
              </a:ext>
            </a:extLst>
          </p:cNvPr>
          <p:cNvSpPr>
            <a:spLocks noGrp="1"/>
          </p:cNvSpPr>
          <p:nvPr>
            <p:ph type="title"/>
          </p:nvPr>
        </p:nvSpPr>
        <p:spPr>
          <a:xfrm>
            <a:off x="216189" y="199318"/>
            <a:ext cx="6693310" cy="738663"/>
          </a:xfrm>
        </p:spPr>
        <p:txBody>
          <a:bodyPr>
            <a:normAutofit/>
          </a:bodyPr>
          <a:lstStyle/>
          <a:p>
            <a:r>
              <a:rPr lang="en-US" dirty="0"/>
              <a:t>Suggested materials</a:t>
            </a:r>
            <a:endParaRPr lang="en-US" noProof="0" dirty="0"/>
          </a:p>
        </p:txBody>
      </p:sp>
      <p:sp>
        <p:nvSpPr>
          <p:cNvPr id="5" name="TextBox 4">
            <a:extLst>
              <a:ext uri="{FF2B5EF4-FFF2-40B4-BE49-F238E27FC236}">
                <a16:creationId xmlns:a16="http://schemas.microsoft.com/office/drawing/2014/main" id="{937443CE-6C0A-1DE1-5BA6-95A589D71A60}"/>
              </a:ext>
            </a:extLst>
          </p:cNvPr>
          <p:cNvSpPr txBox="1"/>
          <p:nvPr/>
        </p:nvSpPr>
        <p:spPr>
          <a:xfrm>
            <a:off x="888682" y="1233764"/>
            <a:ext cx="4648518" cy="2862322"/>
          </a:xfrm>
          <a:prstGeom prst="rect">
            <a:avLst/>
          </a:prstGeom>
          <a:noFill/>
        </p:spPr>
        <p:txBody>
          <a:bodyPr wrap="square" rtlCol="0">
            <a:spAutoFit/>
          </a:bodyPr>
          <a:lstStyle/>
          <a:p>
            <a:pPr marL="285750" indent="-285750" algn="just">
              <a:buFont typeface="Arial" panose="020B0604020202020204" pitchFamily="34" charset="0"/>
              <a:buChar char="•"/>
            </a:pPr>
            <a:r>
              <a:rPr lang="en-US" dirty="0"/>
              <a:t>Tubing, PTFE, 1/16” x 0.25 or 0.7 mm</a:t>
            </a:r>
          </a:p>
          <a:p>
            <a:pPr marL="285750" indent="-285750" algn="just">
              <a:buFont typeface="Arial" panose="020B0604020202020204" pitchFamily="34" charset="0"/>
              <a:buChar char="•"/>
            </a:pPr>
            <a:r>
              <a:rPr lang="en-US" dirty="0"/>
              <a:t>1 ml syringes </a:t>
            </a:r>
          </a:p>
          <a:p>
            <a:pPr marL="285750" indent="-285750" algn="just">
              <a:buFont typeface="Arial" panose="020B0604020202020204" pitchFamily="34" charset="0"/>
              <a:buChar char="•"/>
            </a:pPr>
            <a:r>
              <a:rPr lang="en-US" dirty="0"/>
              <a:t> 21G needle (for 0.7 mm tubing) or 27G needle (for 0.25 mm tubing)</a:t>
            </a:r>
          </a:p>
          <a:p>
            <a:pPr marL="285750" indent="-285750" algn="just">
              <a:buFont typeface="Arial" panose="020B0604020202020204" pitchFamily="34" charset="0"/>
              <a:buChar char="•"/>
            </a:pPr>
            <a:r>
              <a:rPr lang="en-US" dirty="0"/>
              <a:t>Scotch</a:t>
            </a:r>
          </a:p>
          <a:p>
            <a:pPr marL="285750" indent="-285750" algn="just">
              <a:buFont typeface="Arial" panose="020B0604020202020204" pitchFamily="34" charset="0"/>
              <a:buChar char="•"/>
            </a:pPr>
            <a:r>
              <a:rPr lang="en-US" dirty="0"/>
              <a:t>0.2 µm filter</a:t>
            </a:r>
          </a:p>
          <a:p>
            <a:pPr marL="285750" indent="-285750" algn="just">
              <a:buFont typeface="Arial" panose="020B0604020202020204" pitchFamily="34" charset="0"/>
              <a:buChar char="•"/>
            </a:pPr>
            <a:r>
              <a:rPr lang="en-US" dirty="0"/>
              <a:t>Tweezers</a:t>
            </a:r>
          </a:p>
          <a:p>
            <a:pPr marL="285750" indent="-285750" algn="just">
              <a:buFont typeface="Arial" panose="020B0604020202020204" pitchFamily="34" charset="0"/>
              <a:buChar char="•"/>
            </a:pPr>
            <a:r>
              <a:rPr lang="en-US" dirty="0"/>
              <a:t>Eppendorf tubes </a:t>
            </a:r>
          </a:p>
          <a:p>
            <a:pPr marL="285750" indent="-285750" algn="just">
              <a:buFont typeface="Arial" panose="020B0604020202020204" pitchFamily="34" charset="0"/>
              <a:buChar char="•"/>
            </a:pPr>
            <a:r>
              <a:rPr lang="en-US" dirty="0"/>
              <a:t>Parafilm</a:t>
            </a:r>
          </a:p>
          <a:p>
            <a:pPr marL="285750" indent="-285750" algn="just">
              <a:buFont typeface="Arial" panose="020B0604020202020204" pitchFamily="34" charset="0"/>
              <a:buChar char="•"/>
            </a:pPr>
            <a:endParaRPr lang="en-US" dirty="0"/>
          </a:p>
        </p:txBody>
      </p:sp>
      <p:sp>
        <p:nvSpPr>
          <p:cNvPr id="6" name="TextBox 5">
            <a:extLst>
              <a:ext uri="{FF2B5EF4-FFF2-40B4-BE49-F238E27FC236}">
                <a16:creationId xmlns:a16="http://schemas.microsoft.com/office/drawing/2014/main" id="{2E67E6CA-910D-1926-8BBF-339ACE00D0C2}"/>
              </a:ext>
            </a:extLst>
          </p:cNvPr>
          <p:cNvSpPr txBox="1"/>
          <p:nvPr/>
        </p:nvSpPr>
        <p:spPr>
          <a:xfrm>
            <a:off x="931703" y="4096086"/>
            <a:ext cx="3795078" cy="1477328"/>
          </a:xfrm>
          <a:prstGeom prst="rect">
            <a:avLst/>
          </a:prstGeom>
          <a:noFill/>
        </p:spPr>
        <p:txBody>
          <a:bodyPr wrap="square" rtlCol="0">
            <a:spAutoFit/>
          </a:bodyPr>
          <a:lstStyle/>
          <a:p>
            <a:pPr algn="just"/>
            <a:r>
              <a:rPr lang="en-US" dirty="0"/>
              <a:t>Initially, we will provide some of these materials for you to test if you don’t have them – please complete our table to know what we need to send.</a:t>
            </a:r>
          </a:p>
        </p:txBody>
      </p:sp>
      <p:sp>
        <p:nvSpPr>
          <p:cNvPr id="7" name="TextBox 6">
            <a:extLst>
              <a:ext uri="{FF2B5EF4-FFF2-40B4-BE49-F238E27FC236}">
                <a16:creationId xmlns:a16="http://schemas.microsoft.com/office/drawing/2014/main" id="{8585006D-8406-BD46-8F5E-2411337C2108}"/>
              </a:ext>
            </a:extLst>
          </p:cNvPr>
          <p:cNvSpPr txBox="1"/>
          <p:nvPr/>
        </p:nvSpPr>
        <p:spPr>
          <a:xfrm>
            <a:off x="6096000" y="1390242"/>
            <a:ext cx="5598160" cy="3693319"/>
          </a:xfrm>
          <a:prstGeom prst="rect">
            <a:avLst/>
          </a:prstGeom>
          <a:noFill/>
        </p:spPr>
        <p:txBody>
          <a:bodyPr wrap="square" rtlCol="0">
            <a:spAutoFit/>
          </a:bodyPr>
          <a:lstStyle/>
          <a:p>
            <a:pPr algn="just"/>
            <a:r>
              <a:rPr lang="en-US" noProof="0" dirty="0">
                <a:solidFill>
                  <a:schemeClr val="bg2">
                    <a:lumMod val="25000"/>
                  </a:schemeClr>
                </a:solidFill>
              </a:rPr>
              <a:t>Additional recommendations:</a:t>
            </a:r>
          </a:p>
          <a:p>
            <a:pPr marL="285750" indent="-285750" algn="just">
              <a:buFont typeface="Arial" panose="020B0604020202020204" pitchFamily="34" charset="0"/>
              <a:buChar char="•"/>
            </a:pPr>
            <a:r>
              <a:rPr lang="en-US" dirty="0">
                <a:solidFill>
                  <a:schemeClr val="bg2">
                    <a:lumMod val="25000"/>
                  </a:schemeClr>
                </a:solidFill>
              </a:rPr>
              <a:t>Fill all the tubing before connecting it to the chip, to avoid adding air to it. Bubbles interfere with the correct flow </a:t>
            </a:r>
          </a:p>
          <a:p>
            <a:pPr marL="742950" lvl="1" indent="-285750" algn="just">
              <a:buFont typeface="Arial" panose="020B0604020202020204" pitchFamily="34" charset="0"/>
              <a:buChar char="•"/>
            </a:pPr>
            <a:r>
              <a:rPr lang="en-US" dirty="0">
                <a:solidFill>
                  <a:schemeClr val="bg2">
                    <a:lumMod val="25000"/>
                  </a:schemeClr>
                </a:solidFill>
              </a:rPr>
              <a:t>You can do it with the syringe and the needle </a:t>
            </a:r>
          </a:p>
          <a:p>
            <a:pPr marL="742950" lvl="1" indent="-285750" algn="just">
              <a:buFont typeface="Arial" panose="020B0604020202020204" pitchFamily="34" charset="0"/>
              <a:buChar char="•"/>
            </a:pPr>
            <a:r>
              <a:rPr lang="en-US" dirty="0">
                <a:solidFill>
                  <a:schemeClr val="bg2">
                    <a:lumMod val="25000"/>
                  </a:schemeClr>
                </a:solidFill>
              </a:rPr>
              <a:t>The size of the recommended needles is related to the inside diameter of the tubing</a:t>
            </a:r>
          </a:p>
          <a:p>
            <a:pPr marL="742950" lvl="1" indent="-285750" algn="just">
              <a:buFont typeface="Arial" panose="020B0604020202020204" pitchFamily="34" charset="0"/>
              <a:buChar char="•"/>
            </a:pPr>
            <a:r>
              <a:rPr lang="en-US" dirty="0">
                <a:solidFill>
                  <a:schemeClr val="bg2">
                    <a:lumMod val="25000"/>
                  </a:schemeClr>
                </a:solidFill>
              </a:rPr>
              <a:t>Use the tweezers to fit the needle in the tubing </a:t>
            </a:r>
          </a:p>
          <a:p>
            <a:pPr marL="742950" lvl="1" indent="-285750" algn="just">
              <a:buFont typeface="Arial" panose="020B0604020202020204" pitchFamily="34" charset="0"/>
              <a:buChar char="•"/>
            </a:pPr>
            <a:endParaRPr lang="en-US" dirty="0">
              <a:solidFill>
                <a:schemeClr val="bg2">
                  <a:lumMod val="25000"/>
                </a:schemeClr>
              </a:solidFill>
            </a:endParaRPr>
          </a:p>
          <a:p>
            <a:pPr marL="285750" indent="-285750" algn="just">
              <a:buFont typeface="Arial" panose="020B0604020202020204" pitchFamily="34" charset="0"/>
              <a:buChar char="•"/>
            </a:pPr>
            <a:r>
              <a:rPr lang="en-US" dirty="0">
                <a:solidFill>
                  <a:schemeClr val="bg2">
                    <a:lumMod val="25000"/>
                  </a:schemeClr>
                </a:solidFill>
              </a:rPr>
              <a:t>You can make a hole in the tap of the Eppendorf tube or use parafilm to attach the tube, with the aim of avoiding movements and ambient contaminations</a:t>
            </a:r>
          </a:p>
        </p:txBody>
      </p:sp>
    </p:spTree>
    <p:extLst>
      <p:ext uri="{BB962C8B-B14F-4D97-AF65-F5344CB8AC3E}">
        <p14:creationId xmlns:p14="http://schemas.microsoft.com/office/powerpoint/2010/main" val="952744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762</TotalTime>
  <Words>745</Words>
  <Application>Microsoft Office PowerPoint</Application>
  <PresentationFormat>Widescreen</PresentationFormat>
  <Paragraphs>100</Paragraphs>
  <Slides>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Scaling Up Bioimaging with Microfluidic Chips Workshop</vt:lpstr>
      <vt:lpstr>Visualization chambers</vt:lpstr>
      <vt:lpstr>PowerPoint Presentation</vt:lpstr>
      <vt:lpstr>PowerPoint Presentation</vt:lpstr>
      <vt:lpstr>Flow control - without a pump</vt:lpstr>
      <vt:lpstr>Suggested materials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Josefina Belen Reyes Arroyo (josefina.reyes.a)</dc:creator>
  <cp:lastModifiedBy>Josefina Belen Reyes Arroyo (josefina.reyes.a)</cp:lastModifiedBy>
  <cp:revision>23</cp:revision>
  <dcterms:created xsi:type="dcterms:W3CDTF">2025-11-19T18:43:43Z</dcterms:created>
  <dcterms:modified xsi:type="dcterms:W3CDTF">2025-11-28T20:09:03Z</dcterms:modified>
</cp:coreProperties>
</file>